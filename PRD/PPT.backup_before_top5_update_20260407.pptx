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83" r:id="rId20"/>
    <p:sldId id="284" r:id="rId21"/>
    <p:sldId id="273" r:id="rId22"/>
    <p:sldId id="291" r:id="rId41"/>
    <p:sldId id="292" r:id="rId42"/>
    <p:sldId id="274" r:id="rId23"/>
    <p:sldId id="275" r:id="rId24"/>
    <p:sldId id="276" r:id="rId25"/>
    <p:sldId id="277" r:id="rId26"/>
    <p:sldId id="278" r:id="rId27"/>
    <p:sldId id="279" r:id="rId28"/>
    <p:sldId id="285" r:id="rId29"/>
    <p:sldId id="286" r:id="rId30"/>
    <p:sldId id="287" r:id="rId31"/>
    <p:sldId id="288" r:id="rId32"/>
    <p:sldId id="289" r:id="rId33"/>
    <p:sldId id="290" r:id="rId34"/>
    <p:sldId id="280" r:id="rId35"/>
    <p:sldId id="281" r:id="rId36"/>
    <p:sldId id="282" r:id="rId37"/>
    <p:sldId id="293" r:id="rId43"/>
    <p:sldId id="294" r:id="rId4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Relationship Id="rId35" Type="http://schemas.openxmlformats.org/officeDocument/2006/relationships/slide" Target="slides/slide35.xml"/><Relationship Id="rId36" Type="http://schemas.openxmlformats.org/officeDocument/2006/relationships/slide" Target="slides/slide36.xml"/><Relationship Id="rId37" Type="http://schemas.openxmlformats.org/officeDocument/2006/relationships/slide" Target="slides/slide37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ableStyles" Target="tableStyles.xml"/><Relationship Id="rId41" Type="http://schemas.openxmlformats.org/officeDocument/2006/relationships/slide" Target="slides/slide21.xml"/><Relationship Id="rId42" Type="http://schemas.openxmlformats.org/officeDocument/2006/relationships/slide" Target="slides/slide22.xml"/><Relationship Id="rId43" Type="http://schemas.openxmlformats.org/officeDocument/2006/relationships/slide" Target="slides/slide38.xml"/><Relationship Id="rId44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3327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14E43"/>
                </a:solidFill>
                <a:latin typeface="Noto Sans CJK SC"/>
              </a:defRPr>
            </a:pPr>
            <a:r>
              <a:t>Video Inpainting 全景、统一 Benchmark 与 DiffuEraser-VideoDPO 实验规划</a:t>
            </a:r>
          </a:p>
          <a:p>
            <a:pPr>
              <a:spcBef>
                <a:spcPts val="600"/>
              </a:spcBef>
              <a:defRPr sz="1400">
                <a:solidFill>
                  <a:srgbClr val="5C6870"/>
                </a:solidFill>
                <a:latin typeface="Noto Sans CJK SC"/>
              </a:defRPr>
            </a:pPr>
            <a:r>
              <a:t>Video Inpainting / Benchmark / DiffuEraser VideoDPO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417320"/>
            <a:ext cx="3200400" cy="502920"/>
          </a:xfrm>
          <a:prstGeom prst="roundRect">
            <a:avLst/>
          </a:prstGeom>
          <a:solidFill>
            <a:srgbClr val="C97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Survey + Unified Bench + DPO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8183879" y="2194560"/>
            <a:ext cx="2926080" cy="3200400"/>
          </a:xfrm>
          <a:prstGeom prst="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410" y="2210435"/>
            <a:ext cx="7155815" cy="243776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2000">
                <a:solidFill>
                  <a:srgbClr val="273035"/>
                </a:solidFill>
                <a:latin typeface="Noto Sans CJK SC"/>
              </a:defRPr>
            </a:pPr>
            <a:r>
              <a:t>副标题：基于 `video_inpainting_papers_summary.md` 与 `DPO_Project_Complete_Summary.md`</a:t>
            </a:r>
          </a:p>
          <a:p>
            <a:pPr>
              <a:spcAft>
                <a:spcPts val="500"/>
              </a:spcAft>
              <a:defRPr sz="2000">
                <a:solidFill>
                  <a:srgbClr val="273035"/>
                </a:solidFill>
                <a:latin typeface="Noto Sans CJK SC"/>
              </a:defRPr>
            </a:pPr>
            <a:r>
              <a:t>目标 1：梳理 Video Inpainting 代表论文、数据集、训练/推理 setting、benchmark 与方法逻辑</a:t>
            </a:r>
          </a:p>
          <a:p>
            <a:pPr>
              <a:spcAft>
                <a:spcPts val="500"/>
              </a:spcAft>
              <a:defRPr sz="2000">
                <a:solidFill>
                  <a:srgbClr val="273035"/>
                </a:solidFill>
                <a:latin typeface="Noto Sans CJK SC"/>
              </a:defRPr>
            </a:pPr>
            <a:r>
              <a:t>目标 2：给出固定 benchmark 之后的详细 test 结果表</a:t>
            </a:r>
          </a:p>
          <a:p>
            <a:pPr>
              <a:spcAft>
                <a:spcPts val="500"/>
              </a:spcAft>
              <a:defRPr sz="2000">
                <a:solidFill>
                  <a:srgbClr val="273035"/>
                </a:solidFill>
                <a:latin typeface="Noto Sans CJK SC"/>
              </a:defRPr>
            </a:pPr>
            <a:r>
              <a:t>目标 3：说明当前 DiffuEraser VideoDPO 框架状态，以及正式实验前必须 pre 的关键前提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46888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4E43"/>
                </a:solidFill>
                <a:latin typeface="Noto Sans CJK SC"/>
              </a:defRPr>
            </a:pPr>
            <a:r>
              <a:t>核心问题</a:t>
            </a:r>
          </a:p>
          <a:p>
            <a:pPr>
              <a:defRPr sz="1600">
                <a:solidFill>
                  <a:srgbClr val="273035"/>
                </a:solidFill>
                <a:latin typeface="Noto Sans CJK SC"/>
              </a:defRPr>
            </a:pPr>
            <a:r>
              <a:t>论文全景</a:t>
            </a:r>
          </a:p>
          <a:p>
            <a:pPr>
              <a:defRPr sz="1600">
                <a:solidFill>
                  <a:srgbClr val="273035"/>
                </a:solidFill>
                <a:latin typeface="Noto Sans CJK SC"/>
              </a:defRPr>
            </a:pPr>
            <a:r>
              <a:t>固定 benchmark 结果</a:t>
            </a:r>
          </a:p>
          <a:p>
            <a:pPr>
              <a:defRPr sz="1600">
                <a:solidFill>
                  <a:srgbClr val="273035"/>
                </a:solidFill>
                <a:latin typeface="Noto Sans CJK SC"/>
              </a:defRPr>
            </a:pPr>
            <a:r>
              <a:t>DiffuEraser DPO 路线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核心结论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315277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Video Inpainting 目前已经分化为 4 条主线：BR、OR、Text-guided Editing(一个车正在路上行驶)、Language-driven Editing(去掉右边戴帽子的那个人)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真正跨论文可复用的 benchmark 很少：BR 基本是 `STTN/E2FGVI Protocol`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OR 方向至今没有像 STTN/E2FGVI 那样被社区统一接受的公共 benchmark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DiffuEraser 原论文没有定量表，但在后续论文与本地统一复现实验里依然是强 baseline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任务类型与可比性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结论：不同 task 的指标体系并不统一，尤其 BR 的全图 PSNR/SSIM 与 OR 的背景区域 PSNR/SSIM 不能直接横向比较。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832104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Task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是否有完整 GT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常见 Mask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常见指标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代表方法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BR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是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stationary / random synthetic mask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PSNR, SSIM, VFID, Ewarp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 FFF-VDI, HomoGen, FloED(BR)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OR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通常没有完整 GT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SAM / object mask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PSNR(bg), SSIM(bg), TC, VQ, Succ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DiffuEraser, MiniMax, RT-Remover, FloED(OR)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Text-guided Editing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否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user / instance mask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CS, BP, TC, VQ, TA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AVID, CoCoCo, VideoComposer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Language-driven Inpainting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是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referring segmentation GT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PSNR, SSIM, VFID, Ewarp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LGVI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方法演化脉络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传播补全流派：`STTN -&gt; FuseFormer -&gt; E2FGVI -&gt; ProPainter`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生成式 BR / OR：`DiffuEraser`、`FFF-VDI`、`FloED`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直接生成式 OR：`MiniMax-Remover`、`RT-Remover`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编辑导向流派：`AVID`、`CoCoCo`、`VideoRepainter`、`VideoComposer`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语言与统一建模流派：`LGVI`、`VACE`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核心分歧：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一类方法强调“传播已有背景，再做细节补偿”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一类方法强调“直接在视频 latent 空间里生成修复结果”</a:t>
            </a:r>
          </a:p>
          <a:p>
            <a:pPr>
              <a:spcAft>
                <a:spcPts val="500"/>
              </a:spcAft>
              <a:defRPr sz="1900">
                <a:solidFill>
                  <a:srgbClr val="273035"/>
                </a:solidFill>
                <a:latin typeface="Noto Sans CJK SC"/>
              </a:defRPr>
            </a:pPr>
            <a:r>
              <a:t>一类方法强调“把 inpainting 当成编辑任务，依赖文本、关键帧或语言指令”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4820" y="201295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论文全景 I：BR / 传播 / 扩散主线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1000" y="731520"/>
          <a:ext cx="10972800" cy="47548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67926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方法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训练 / 测试数据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训练 / 推理 Setting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Benchmark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核心逻辑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ProPainter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YouTube-VOS; Test: DAVIS + YT-VOS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432x240；80 帧子序列；overlap；mask dilation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STTN/E2FGVI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光流传播 + transformer 补全 + 重叠子视频融合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DiffuEraser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Panda-70M；Test: 原论文仅定性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 512；Infer 最多 1280；22 帧 clip；pre-infer anchors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原论文无定量；后续论文与本地 bench 常作 baseline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ProPainter prior + diffusion denoise + blended refinement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FFF-VDI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YouTube-VOS；Test: DAVIS + YT-VOS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448x256；训练 14 帧；固定分辨率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STTN/E2FGVI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先完成第一帧，再用 I2V diffusion 传播整段视频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FloED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Open-Sora 421K；Test: 自建 100 视频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512；16 帧；anchor frame；DDIM 25 steps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FloED benchmark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光流引导扩散 + anchor frame + latent interpolation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HomoGen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内部 Shutterstock；Test: YT-VOS + DAVIS + RORD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GoP 分段；重叠 GoP；240x432 评估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STTN/E2FGVI + RORD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homography propagation + diffusion refinement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VideoComposer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WebVid + LAION；Test: 自建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256x256；16 帧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自建多任务 benchmark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STC-encoder 统一多条件，inpainting 只是其一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6/39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514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论文全景 II：OR / 编辑主线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67640" y="830580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950976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方法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训练 / 测试数据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训练 / 推理 Setting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Benchmark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核心逻辑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AVID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Shutterstock 私有；Test: 自建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512；约 16 帧；MultiDiffusion sliding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自建文本编辑集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文本驱动替换 / 移除 / 背景编辑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MiniMax-Remover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WebVid-10M + Pexels stage2；Test: DAVIS + Pexels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480p；81 帧；6/12/50 steps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DAVIS + Pexels OR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DiT 直接对象移除，大窗口少步采样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CoCoCo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WebVid-10M；Test: 自建 300 视频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 256；Infer 256 或 512x320；16 帧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CoCoCo benchmark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文本 + mask 区域生成，强调文本对齐与时序一致性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VideoRepainter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内部 watermark-free 300K；Test: DAVIS + wild editing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576x1024；14/25 帧；coarse-to-fine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VideoRepainter benchmark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用户先编辑关键帧，再借助 I2V 传播到整段视频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7/39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论文全景 III：语言驱动 / 统一框架 / 开源状态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88720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283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方法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训练 / 测试数据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训练 / 推理 Setting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Benchmark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核心逻辑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LGVI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ROVI 5650 + GQA-Inpaint；Test: ROVI 478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512x320；24 帧；固定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ROVI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用自然语言指代目标，再做 language-driven video inpainting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RT-Remover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WebVid-10M + Pexels distill；Test: DAVIS + Pexels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480x832；81 帧；autoregressive + KV cache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DAVIS + Pexels OR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只给第一帧 mask，在线追踪与移除一体化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VACE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Train: Tongyi 内部大数据；Test: 作为 baseline 出现在 MiniMax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480x832 / 720x1280；约 81 帧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无专门 inpainting 主 benchmark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VCU 统一多任务输入，MV2V 中包含 inpainting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开源分层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代表方法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启发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:---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:---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:---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训练 + 推理较完整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ProPainter, DiffuEraser, VideoRepainter, LGVI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最适合继续系统复现或微调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仅推理或部分开源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MiniMax, CoCoCo, FloED, VideoComposer, VACE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适合做 frozen baseline，不适合直接接 DPO 训练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未开源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AVID, HomoGen, RT-Remover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只能参考论文设计，难以真实复现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Benchmark 全景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结论：如果要做跨方法稳定对比，主报告最好只固定两条线：`BR` 和 `OR`；不要把 text-guided / language-driven 混进同一主表。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Benchmark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Task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测试集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Mask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指标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14E43"/>
                          </a:solidFill>
                          <a:latin typeface="Noto Sans CJK SC"/>
                        </a:rPr>
                        <a:t>当前复用状态</a:t>
                      </a:r>
                      <a:endParaRPr sz="11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STTN/E2FGVI Protocol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BR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DAVIS 50 + YT-VOS 508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Stationary 432x240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PSNR, SSIM, VFID, Ewarp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BR 社区事实标准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DAVIS + Pexels OR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OR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DAVIS 90 + Pexels 200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SAM2 object mask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SSIM(bg), PSNR(bg), TC, VQ, Succ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MiniMax / RT 在用，但尚未标准化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FloED Benchmark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BR + OR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自建 100 视频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random + SAM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PSNR, SSIM, VFID, Ewarp, TC, TA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论文自建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ROVI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Language-driven OR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478 test videos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referring segmentation GT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PSNR, SSIM, VFID, Ewarp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唯一公开 language-driven benchmark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CoCoCo TestSet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Text-guided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自建 300 视频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instance-aware mask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CS, BP, TC, VQ, TA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论文自建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VideoRepainter Set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Editing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DAVIS 50 + 20 wild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object / user mask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Cons, PSNR(Bg), MSE(Bg), AS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273035"/>
                          </a:solidFill>
                          <a:latin typeface="Noto Sans CJK SC"/>
                        </a:rPr>
                        <a:t>论文自建</a:t>
                      </a:r>
                      <a:endParaRPr sz="10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9/39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的主协议与重点标准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主结论优先看 3 张 BR 表：</a:t>
            </a:r>
          </a:p>
          <a:p>
            <a:r>
              <a:t>`Native-Best-FullRes-24G / BR`</a:t>
            </a:r>
          </a:p>
          <a:p>
            <a:r>
              <a:t>`Native-Best-Fix-240-432-FullRes-24G / BR`</a:t>
            </a:r>
          </a:p>
          <a:p>
            <a:r>
              <a:t>`Native-Best-Fix-240-432-24G / BR`</a:t>
            </a:r>
          </a:p>
          <a:p>
            <a:r>
              <a:t>原因：它们最接近“真实 high-res 输入 + native-style 舒适区 / 或统一 432x240 公平比较”，避免低分辨率图像先上采样再推理。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832104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协议名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主要约束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保留的方法原生部分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最适合回答的问题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Native-Best-24G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单卡 24GB 可运行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保留原生 steps / cfg / prompt / infer resolution / frame budget，必要时做 24G 兜底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在 24GB 约束下谁最强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Native-Best-Fix-240-432-24G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统一推理 / 评测分辨率为 432x240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保留原生 steps / cfg / prompt / frame budget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去掉分辨率差异后谁最强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Native-Best-Fix-nFrames-24G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统一评测窗口到最小可行帧预算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保留原生 steps / cfg / prompt / infer resolution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去掉时序窗口差异后谁最强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Native-Best-Fix-nFrames-Fix-240-432-24G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同时固定分辨率和帧预算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仅保留原生 steps / cfg / prompt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可比性最强，最适合做主表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10/39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I：Native-Best-24G / 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233" y="5527167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结论：这是 24GB 下保留方法 native-style setting 的 BR 表；ProPainter 最强，MiniMax 第二，但仍混有原生分辨率与长窗口差异。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Method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PSNR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SSIM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LPIPS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Ewarp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VFID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TC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AS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IS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Frames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ProPainter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35.5167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0.9813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7.4734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0.0818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1.2362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MiniMax-Remover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33.1124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3.9526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0.0904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N/A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1.2379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DiffuEraser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31.1135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8.5149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0.0983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1.2436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FloED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30.7459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3.2203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0.3365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1.2124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11/39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II：Native-Best-24G / 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结论：OR 的背景指标更像“保背景能力”，不能单独代表 object removal 成功率；这一页建议始终结合可视化一起读。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Method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PSNR(bg)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SSIM(bg)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TC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Frames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ProPainter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100.0000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0.9582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FloED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62.4027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0.9560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DiffuEraser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34.1224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0.9819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0.9578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MiniMax-Remover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27.7824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0.9396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0.9718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12/39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III：Native-Best-Fix-240-432-24G / 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结论：Fix-240-432 / BR 去掉了输入分辨率差异；ProPainter 仍最强，MiniMax 与 DiffuEraser 接近，FloED 维持稳定。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Method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PSNR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SSIM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LPIPS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Ewarp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VFID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TC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AS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IS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Frames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ProPainter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35.5167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0.9813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7.4734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0.0818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1.2362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MiniMax-Remover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31.1977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4.3716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0.1019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1.2299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DiffuEraser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31.0785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8.4298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0.1048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1.2397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FloED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30.7687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3.2117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0.3313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1.2118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13/39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IV：Native-Best-Fix-240-432-24G / 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结论：Fix-240-432 / OR 是低分辨率统一条件下的 OR 对照；背景指标仍可能饱和，因此建议配合 mask overlay 视频一起判断。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Method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PSNR(bg)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SSIM(bg)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TC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Frames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DiffuEraser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100.0000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0.9531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ProPainter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100.0000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0.9582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FloED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62.4027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0.9573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MiniMax-Remover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24.9133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0.8921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0.9681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14/39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V：Native-Best-Fix-nFrames-24G / 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结论：Fix-nFrames / BR 去掉了长窗口差异；ProPainter 仍第一，MiniMax 领先于 DiffuEraser，FloED 的变化最小。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Method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PSNR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SSIM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LPIPS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Ewarp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VFID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TC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AS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IS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Frames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ProPainter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35.1758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6.7386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0.2269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1.1812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MiniMax-Remover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31.7330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3.0584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0.2590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0.0394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1.2370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DiffuEraser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30.8651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7.4467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0.2819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1.1952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FloED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30.7840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3.2158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0.3281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1.2195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15/39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VI：Native-Best-Fix-nFrames-24G / 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结论：Fix-nFrames / OR 统一了窗口长度，但背景指标读法不变；它更适合做同窗口对照，不适合单独宣告 removal 最优。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Method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PSNR(bg)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SSIM(bg)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TC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Frames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ProPainter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100.0000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0.9620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FloED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62.4027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0.9571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DiffuEraser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34.0971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0.9813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0.9622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MiniMax-Remover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27.8303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0.9409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0.9716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16/39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VII：Native-Best-Fix-nFrames-Fix-240-432-24G / 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结论：这是 low-res source 下控制变量最强的 BR 表；适合做公平对照，但不是最终最重要的 full-res 主表。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Method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PSNR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SSIM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LPIPS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Ewarp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VFID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TC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AS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IS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Frames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ProPainter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35.1758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6.7386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0.2269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1.1812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FloED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30.6865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3.2311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0.3415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0.0454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1.2173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DiffuEraser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30.6611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7.4538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0.2688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1.1908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MiniMax-Remover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29.7829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0.9484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3.5100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0.3145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1.2300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17/39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VIII：Native-Best-Fix-nFrames-Fix-240-432-24G / 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结论：这是 low-res source 下控制变量最强的 OR 表；但 OR 最终仍应结合 mask overlay 视频一起解释。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Method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PSNR(bg)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SSIM(bg)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TC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Frames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DiffuEraser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100.0000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0.9588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ProPainter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100.0000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0.9620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FloED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62.4027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1.0000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0.9581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400"/>
                        <a:t>MiniMax-Remover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24.7793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0.8867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0.9647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18/39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IX：Native-Best-FullRes-24G / 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233" y="5527167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结论：这是最接近“真实 high-res 输入 + 各方法 native-style 舒适区”的 BR 表，也是最重要的主表之一。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Method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PSNR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SSIM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LPIPS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Ewarp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VFID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TC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AS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IS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Frames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ProPainter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34.2067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10.2557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0.0806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1.2537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MiniMax-Remover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31.8785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6.5358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0.0850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1.2391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DiffuEraser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30.3474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11.3108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0.0964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1.2606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FloED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30.1085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5.5943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0.3402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1.2454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19/39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X：Native-Best-Fix-240-432-FullRes-24G / 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233" y="5527167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结论：这是最推荐的 BR 主表：真实 high-res 源图 + 统一 432x240 推理，既避免低分辨率图像上采样，又保留公平比较。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Method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PSNR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SSIM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LPIPS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Ewarp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VFID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TC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AS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IS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Frames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ProPainter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34.2067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10.2557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0.0806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1.2537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MiniMax-Remover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30.3931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6.8619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0.1040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1.2516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DiffuEraser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30.3591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0.9612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11.3890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0.0952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1.2592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FloED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30.1468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5.5549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0.3190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1.2352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20/39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XI：Native-Best-Fix-nFrames-FullRes-24G / 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233" y="5527167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结论：在 full-res 源图上只控制帧预算后，ProPainter 仍第一，MiniMax 与 DiffuEraser 更接近，可作为 supplementary control。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Method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PSNR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SSIM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LPIPS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Ewarp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VFID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TC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AS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IS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Frames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ProPainter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33.8962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9.4691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0.2375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1.2041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MiniMax-Remover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30.6123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5.5313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0.2547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1.2561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DiffuEraser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30.2752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10.1341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0.2677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1.2080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FloED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30.1928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5.5868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0.3199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N/A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1.2449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21/39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固定 Benchmark 结果 XII：Native-Best-Fix-nFrames-Fix-240-432-FullRes-24G / 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233" y="5527167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结论：这是 full-res 源图下同时控制分辨率与帧预算最严格的 BR 表，适合做最终 supplementary control。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Method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PSNR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SSIM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LPIPS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Ewarp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VFID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TC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AS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IS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Frames</a:t>
                      </a: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ProPainter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33.8962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9.4691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0.2375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1.2041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DiffuEraser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30.3599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10.1945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0.2639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1.2142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FloED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30.2457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0.9544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5.5687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0.3130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0.0117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1.2380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r>
                        <a:rPr sz="1200"/>
                        <a:t>MiniMax-Remover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29.1567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0.9455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0.0235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5.9205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0.3356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0.9744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0.0067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1.2450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/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22/39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最重要的三个实验标准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315277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t>主结论优先看这 3 张 BR 表：</a:t>
            </a:r>
          </a:p>
          <a:p>
            <a:r>
              <a:t>1. `Native-Best-FullRes-24G / BR`</a:t>
            </a:r>
          </a:p>
          <a:p>
            <a:r>
              <a:t>2. `Native-Best-Fix-240-432-FullRes-24G / BR`</a:t>
            </a:r>
          </a:p>
          <a:p>
            <a:r>
              <a:t>3. `Native-Best-Fix-240-432-24G / BR`</a:t>
            </a:r>
          </a:p>
          <a:p/>
          <a:p>
            <a:r>
              <a:t>为什么这三张最重要：</a:t>
            </a:r>
          </a:p>
          <a:p>
            <a:r>
              <a:t>• `Native-Best-FullRes-24G / BR`：真实 high-res 输入，方法可使用各自 native-style 舒适区。</a:t>
            </a:r>
          </a:p>
          <a:p>
            <a:r>
              <a:t>• `Native-Best-Fix-240-432-FullRes-24G / BR`：真实 high-res 输入，但统一到 432x240 推理，是最推荐主表。</a:t>
            </a:r>
          </a:p>
          <a:p>
            <a:r>
              <a:t>• `Native-Best-Fix-240-432-24G / BR`：低分辨率 source 的公平对照，用于验证排序是否依赖上采样。</a:t>
            </a:r>
          </a:p>
          <a:p/>
          <a:p>
            <a:r>
              <a:t>统一结论：从真实 high-res 输入下采样到低分辨率，明显比把 432x240 图像先上采样再推理更合理。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23/39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当前 DiffuEraser VideoDPO 框架状态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代码结构：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`DPO_finetune/dataset/dpo_dataset.py`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`DPO_finetune/train_dpo_stage1.py`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`DPO_finetune/train_dpo_stage2.py`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`DPO_finetune/scripts/run_dpo_stage1.py`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`DPO_finetune/scripts/run_dpo_stage2.py`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模块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当前状态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SFT 基线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已完成两阶段全量微调，最终权重为 `finetune-stage2/converted_weights_step34000`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DPO 代码隔离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已全部放在 `DPO_finetune/` 下，不污染 SFT 主代码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DPO 数据集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已构建，HF 数据约 69.9GB，manifest 2066 entries，训练样本总量约 5212 对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Stage 1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`UNet2D + BrushNet` DPO 训练脚本已完成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Stage 2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`MotionModule only` DPO 训练脚本已完成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监控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W&amp;B 初始化、crash alert、console log 回传已落地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24/39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我们自己的 SFT 实验设置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说明：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`FT_S2_34K` 对应当前 PRD 里明确记录的 SFT 最终主权重 `converted_weights_step34000`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`FT_S2_48K` 是额外继续训练得到的对照权重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当前最适合放进正式 PPT 的，是 `/home/hj/Test/exp_result/experiment_report.md` 中的 BR 汇总表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项目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内容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SFT 代码路径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`/home/hj/Reg_DPO_Inpainting`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本地结果路径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`/home/hj/Test/exp_result`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SFT 训练范式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DiffuEraser 两阶段全量微调：Stage 1 训练 `UNet2D + BrushNet`，Stage 2 训练 `MotionModule`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当前核心权重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`Orign`、`FT_S2_34K`、`FT_S2_48K`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当前评测维度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`2-Step / 4-Step`，`BR / OR`，`blend / no-blend`，共 24 组实验配置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当前统一定量结果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BR 已有 `experiment_report.md` 汇总；OR 当前主要保留逐视频结果，尚未导出统一 aggregate 表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25/39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我们自己的 SFT 结果（BR 定量表）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43000"/>
            <a:ext cx="1083564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273035"/>
                </a:solidFill>
                <a:latin typeface="Noto Sans CJK SC"/>
              </a:defRPr>
            </a:pPr>
            <a:r>
              <a:t>来源：`/home/hj/Test/exp_result/experiment_report.md`</a:t>
            </a:r>
          </a:p>
          <a:p>
            <a:pPr>
              <a:spcAft>
                <a:spcPts val="500"/>
              </a:spcAft>
              <a:defRPr sz="1700">
                <a:solidFill>
                  <a:srgbClr val="273035"/>
                </a:solidFill>
                <a:latin typeface="Noto Sans CJK SC"/>
              </a:defRPr>
            </a:pPr>
            <a:r>
              <a:t>指标说明：PSNR / SSIM 越高越好，LPIPS / Ewarp 越低越好，AS / IS 越高越好。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394960"/>
            <a:ext cx="9507220" cy="1387475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no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结论：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当前 BR 最稳的一组是 `FT_S2_34K + 2-Step + no-blend`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34K 相比原始权重在 `2-Step_noblend` 上拿到了最高 PSNR / SSIM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当前 OR 结果目录已经跑出逐视频结果，但这批实验还没有像 BR 一样形成统一 aggregate 指标表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2103120"/>
          <a:ext cx="10972800" cy="32461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249701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14E43"/>
                          </a:solidFill>
                          <a:latin typeface="Noto Sans CJK SC"/>
                        </a:rPr>
                        <a:t>Weight</a:t>
                      </a:r>
                      <a:endParaRPr sz="10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14E43"/>
                          </a:solidFill>
                          <a:latin typeface="Noto Sans CJK SC"/>
                        </a:rPr>
                        <a:t>Config</a:t>
                      </a:r>
                      <a:endParaRPr sz="10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14E43"/>
                          </a:solidFill>
                          <a:latin typeface="Noto Sans CJK SC"/>
                        </a:rPr>
                        <a:t>PSNR↑</a:t>
                      </a:r>
                      <a:endParaRPr sz="10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14E43"/>
                          </a:solidFill>
                          <a:latin typeface="Noto Sans CJK SC"/>
                        </a:rPr>
                        <a:t>SSIM↑</a:t>
                      </a:r>
                      <a:endParaRPr sz="10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14E43"/>
                          </a:solidFill>
                          <a:latin typeface="Noto Sans CJK SC"/>
                        </a:rPr>
                        <a:t>LPIPS↓</a:t>
                      </a:r>
                      <a:endParaRPr sz="10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14E43"/>
                          </a:solidFill>
                          <a:latin typeface="Noto Sans CJK SC"/>
                        </a:rPr>
                        <a:t>Ewarp↓</a:t>
                      </a:r>
                      <a:endParaRPr sz="10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14E43"/>
                          </a:solidFill>
                          <a:latin typeface="Noto Sans CJK SC"/>
                        </a:rPr>
                        <a:t>AS↑</a:t>
                      </a:r>
                      <a:endParaRPr sz="10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214E43"/>
                          </a:solidFill>
                          <a:latin typeface="Noto Sans CJK SC"/>
                        </a:rPr>
                        <a:t>IS↑</a:t>
                      </a:r>
                      <a:endParaRPr sz="10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FT_S2_34K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2-Step_noblend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31.9146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0.9690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0.0158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8.2150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5.2017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1.2172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Orign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2-Step_noblend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31.8548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0.9685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0.0169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8.2049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5.1721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1.2185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FT_S2_48K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2-Step_noblend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31.8409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0.9687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0.0160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8.1937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5.2035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1.2221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FT_S2_34K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4-Step_noblend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31.4962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0.9662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0.0159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8.3854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5.2133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1.2148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FT_S2_48K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4-Step_noblend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31.4688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0.9663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0.0156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8.4342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5.2219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1.2157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Orign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4-Step_noblend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31.1492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0.9642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0.0168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8.4732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5.1847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1.2187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FT_S2_48K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2-Step_blend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30.6028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0.9600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0.0197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8.3519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5.2214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1.2208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Orign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2-Step_blend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30.6009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0.9593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0.0209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8.2441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5.1824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1.2228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FT_S2_34K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2-Step_blend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30.5651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0.9594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0.0200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8.4124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5.2067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1.2197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FT_S2_34K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4-Step_blend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30.0212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0.9554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0.0200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8.7116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5.2323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1.2168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FT_S2_48K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4-Step_blend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29.9857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0.9553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0.0200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8.7136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5.2282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1.2195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9701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Orign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4-Step_blend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29.6407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0.9532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0.0211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8.8420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5.1993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73035"/>
                          </a:solidFill>
                          <a:latin typeface="Noto Sans CJK SC"/>
                        </a:rPr>
                        <a:t>1.2218</a:t>
                      </a:r>
                      <a:endParaRPr sz="9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26/39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初期 DPO 数据集生成想法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这个 slide 要强调的点：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这是一个“初期版本”的 DPO 数据集生成方案，后面大概率还会改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当前版本的核心价值是先把 `DiffuEraser + VideoDPO` 的训练闭环跑通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当前数据集的逻辑是“我们自己构造负样本”，而不是直接继承 VideoDPO 的原始数据分布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维度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当前初版设计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说明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数据来源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`YouTube-VOS + DAVIS`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这是我们自己创建的数据集，不是直接使用 VideoDPO 原始数据集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借鉴部分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`VideoDPO` 的 preference learning 主逻辑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借的是“win/lose 偏好优化思路”，不是照搬它的数据构造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正样本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GT 原始视频帧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作为 win sample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负样本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Blur / Hallucination / Flicker 三类退化视频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作为 lose sample，由我们自己的流程自动生成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Mask 设计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大面积、中心区域、缓慢移动的 hard mask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目的是主动制造困难修复场景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评分粒度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16 帧 chunk 级评分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与 DPO 训练窗口 `nframes=16` 对齐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产出形式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`neg_frames_1 + neg_frames_2 + meta.json + manifest.json`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一个 GT 视频产出两条负样本时间线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27/39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初期 DPO 数据集的核心流程与后续修改方向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73035"/>
                </a:solidFill>
                <a:latin typeface="Noto Sans CJK SC"/>
              </a:defRPr>
            </a:pPr>
            <a:r>
              <a:t>1. 当前流程：GT 视频 -&gt; 生成 hard mask -&gt; 跑三条负样本管线 `blur / hallucination / flicker` -&gt; 16 帧评分 -&gt; 纵向缝合成 `neg_1 / neg_2`。</a:t>
            </a:r>
          </a:p>
          <a:p>
            <a:pPr>
              <a:spcAft>
                <a:spcPts val="500"/>
              </a:spcAft>
              <a:defRPr sz="1800">
                <a:solidFill>
                  <a:srgbClr val="273035"/>
                </a:solidFill>
                <a:latin typeface="Noto Sans CJK SC"/>
              </a:defRPr>
            </a:pPr>
            <a:r>
              <a:t>2. 当前设计的优点：不需要人工偏好标注，能快速得到可训练的 win/lose 对，并且与现有 DiffuEraser 工程完全兼容。</a:t>
            </a:r>
          </a:p>
          <a:p>
            <a:pPr>
              <a:spcAft>
                <a:spcPts val="500"/>
              </a:spcAft>
              <a:defRPr sz="1800">
                <a:solidFill>
                  <a:srgbClr val="273035"/>
                </a:solidFill>
                <a:latin typeface="Noto Sans CJK SC"/>
              </a:defRPr>
            </a:pPr>
            <a:r>
              <a:t>3. 当前设计的局限：负样本还是“人为设计的 failure mode”，和真实 object removal / open-world editing 的分布仍有差距。</a:t>
            </a:r>
          </a:p>
          <a:p>
            <a:pPr>
              <a:spcAft>
                <a:spcPts val="500"/>
              </a:spcAft>
              <a:defRPr sz="1800">
                <a:solidFill>
                  <a:srgbClr val="273035"/>
                </a:solidFill>
                <a:latin typeface="Noto Sans CJK SC"/>
              </a:defRPr>
            </a:pPr>
            <a:r>
              <a:t>4. 后续最可能修改的方向：更真实的 object mask、更自然的负样本来源、更少 heuristic 的评分方式，以及更贴近 OR benchmark 的数据构造。</a:t>
            </a:r>
          </a:p>
          <a:p>
            <a:pPr>
              <a:spcAft>
                <a:spcPts val="500"/>
              </a:spcAft>
              <a:defRPr sz="1800">
                <a:solidFill>
                  <a:srgbClr val="273035"/>
                </a:solidFill>
                <a:latin typeface="Noto Sans CJK SC"/>
              </a:defRPr>
            </a:pPr>
            <a:r>
              <a:t>一句话总结：</a:t>
            </a:r>
          </a:p>
          <a:p>
            <a:pPr>
              <a:spcAft>
                <a:spcPts val="500"/>
              </a:spcAft>
              <a:defRPr sz="1800">
                <a:solidFill>
                  <a:srgbClr val="273035"/>
                </a:solidFill>
                <a:latin typeface="Noto Sans CJK SC"/>
              </a:defRPr>
            </a:pPr>
            <a:r>
              <a:t>当前 DPO 数据集不是 VideoDPO 的原始数据集复刻，而是“借 VideoDPO 的偏好优化思想，在 YouTube-VOS + DAVIS 上为 DiffuEraser 自己做的一版初期数据集”。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28/39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当前 DPO 训练设计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已修复的关键问题：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`manifest key != 目录名` 导致 0 entries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Stage 1 `timesteps` 维度不匹配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Stage 2 `BrushNet` 与 `UNetMotionModel` 需要不同 `timesteps`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Stage 2 `encoder_hidden_states` 未翻倍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`UNetMotionModel` config / import 问题</a:t>
            </a:r>
          </a:p>
          <a:p>
            <a:pPr>
              <a:spcAft>
                <a:spcPts val="500"/>
              </a:spcAft>
              <a:defRPr sz="1500">
                <a:solidFill>
                  <a:srgbClr val="273035"/>
                </a:solidFill>
                <a:latin typeface="Noto Sans CJK SC"/>
              </a:defRPr>
            </a:pPr>
            <a:r>
              <a:t>W&amp;B 初始化过晚导致黑箱崩溃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项目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Stage 1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Stage 2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可训练模块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UNet2D + BrushNet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MotionModule only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初始化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Policy / Ref 都从 SFT 权重初始化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Policy 从 Stage 1 + baseline motion；Ref 保持 SFT 冻结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nframes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16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16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LR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1e-6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1e-6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beta_dpo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500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500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max_steps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20000~21000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30000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验证指标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PSNR + SSIM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PSNR + SSIM + Ewarp + TC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214E43"/>
                </a:solidFill>
              </a:rPr>
              <a:t>Research Deck</a:t>
            </a:r>
            <a:endParaRPr sz="1200" b="0">
              <a:solidFill>
                <a:srgbClr val="214E4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16768" y="6419088"/>
            <a:ext cx="868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29/39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0">
                <a:solidFill>
                  <a:srgbClr val="214E43"/>
                </a:solidFill>
              </a:rPr>
              <a:t>训练失败复盘 I：OOM 与显存应对</a:t>
            </a:r>
            <a:endParaRPr sz="2500" b="0">
              <a:solidFill>
                <a:srgbClr val="214E43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70432"/>
          <a:ext cx="109728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961120"/>
              </a:tblGrid>
              <a:tr h="620485">
                <a:tc>
                  <a:txBody>
                    <a:bodyPr/>
                    <a:lstStyle/>
                    <a:p>
                      <a:r>
                        <a:rPr sz="1420" b="1">
                          <a:solidFill>
                            <a:srgbClr val="FFFFFF"/>
                          </a:solidFill>
                        </a:rPr>
                        <a:t>维度</a:t>
                      </a:r>
                      <a:endParaRPr sz="1420" b="1">
                        <a:solidFill>
                          <a:srgbClr val="FFFFFF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214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0" b="1">
                          <a:solidFill>
                            <a:srgbClr val="FFFFFF"/>
                          </a:solidFill>
                        </a:rPr>
                        <a:t>结论</a:t>
                      </a:r>
                      <a:endParaRPr sz="1420" b="1">
                        <a:solidFill>
                          <a:srgbClr val="FFFFFF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214E43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失败现象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首次 Stage 1 集群实跑在早期阶段触发 OOM，说明 DPO 显存峰值显著高于 SFT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根因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同时持有 policy/ref 的 UNet + BrushNet，并对 winner/loser 做成对前向，显存压力约为 SFT 的多倍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已加的无损显存 trick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释放已消费完的 BrushNet 中间特征，Ref branch 全程 no_grad()，VAE encode 后尽早释放 pixel，并阶段性清理 cache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为什么说不改训练目标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这些 trick 只释放不再参与后续计算的 tensor，不改 loss、标签和梯度方向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本次 rerun fallback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提交命令里把 nframes 从 16 临时改到 8，先保证集群稳定跑通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620490"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需要诚实记录的 tradeoff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0" b="0">
                          <a:solidFill>
                            <a:srgbClr val="214E43"/>
                          </a:solidFill>
                        </a:rPr>
                        <a:t>nframes=8 会缩短单次时序窗口，所以它是工程兜底，不是与 16 帧完全等价的正式设定</a:t>
                      </a:r>
                      <a:endParaRPr sz="14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5650992"/>
            <a:ext cx="10835640" cy="621792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50" b="0">
                <a:solidFill>
                  <a:srgbClr val="214E43"/>
                </a:solidFill>
              </a:rPr>
              <a:t>一句话总结：代码级显存优化本身是无损的；nframes=8 是为了解决 OOM 的运行级 fallback，后续仍建议在资源允许时回到 16 帧做正式对比。</a:t>
            </a:r>
            <a:endParaRPr sz="1550" b="0">
              <a:solidFill>
                <a:srgbClr val="214E43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214E43"/>
                </a:solidFill>
              </a:rPr>
              <a:t>Research Deck</a:t>
            </a:r>
            <a:endParaRPr sz="1200" b="0">
              <a:solidFill>
                <a:srgbClr val="214E4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16768" y="6419088"/>
            <a:ext cx="868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30/39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0">
                <a:solidFill>
                  <a:srgbClr val="214E43"/>
                </a:solidFill>
              </a:rPr>
              <a:t>训练失败复盘 II：β=2500 早饱和</a:t>
            </a:r>
            <a:endParaRPr sz="2500" b="0">
              <a:solidFill>
                <a:srgbClr val="214E43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5074920" cy="45262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640" b="0">
                <a:solidFill>
                  <a:srgbClr val="214E43"/>
                </a:solidFill>
              </a:rPr>
              <a:t>- 当前任务里 winner = GT，因此理想情况应当是 win_gap &lt; 0。</a:t>
            </a:r>
            <a:endParaRPr sz="1640" b="0">
              <a:solidFill>
                <a:srgbClr val="214E43"/>
              </a:solidFill>
            </a:endParaRPr>
          </a:p>
          <a:p>
            <a:pPr>
              <a:spcAft>
                <a:spcPts val="400"/>
              </a:spcAft>
            </a:pPr>
            <a:r>
              <a:rPr sz="1640" b="0">
                <a:solidFill>
                  <a:srgbClr val="214E43"/>
                </a:solidFill>
              </a:rPr>
              <a:t>- 但首次 Stage 1 实跑中，step 300 就已出现 implicit_acc = 1.0、sigma_term = 1.0、dpo_loss ≈ 0。</a:t>
            </a:r>
            <a:endParaRPr sz="1640" b="0">
              <a:solidFill>
                <a:srgbClr val="214E43"/>
              </a:solidFill>
            </a:endParaRPr>
          </a:p>
          <a:p>
            <a:pPr>
              <a:spcAft>
                <a:spcPts val="400"/>
              </a:spcAft>
            </a:pPr>
            <a:r>
              <a:rPr sz="1640" b="0">
                <a:solidFill>
                  <a:srgbClr val="214E43"/>
                </a:solidFill>
              </a:rPr>
              <a:t>- 同时 win_gap 长期为正，说明 policy 在 GT 上并没有优于 ref。</a:t>
            </a:r>
            <a:endParaRPr sz="1640" b="0">
              <a:solidFill>
                <a:srgbClr val="214E43"/>
              </a:solidFill>
            </a:endParaRPr>
          </a:p>
          <a:p>
            <a:pPr>
              <a:spcAft>
                <a:spcPts val="400"/>
              </a:spcAft>
            </a:pPr>
            <a:r>
              <a:rPr sz="1640" b="0">
                <a:solidFill>
                  <a:srgbClr val="214E43"/>
                </a:solidFill>
              </a:rPr>
              <a:t>- 更合理的解释是：vanilla DPO 很快满足了相对排序，但主要靠让 loser 更差，而不是把 winner 真正优化得更好。</a:t>
            </a:r>
            <a:endParaRPr sz="1640" b="0">
              <a:solidFill>
                <a:srgbClr val="214E43"/>
              </a:solidFill>
            </a:endParaRPr>
          </a:p>
          <a:p>
            <a:pPr>
              <a:spcAft>
                <a:spcPts val="400"/>
              </a:spcAft>
            </a:pPr>
            <a:r>
              <a:rPr sz="1640" b="0">
                <a:solidFill>
                  <a:srgbClr val="214E43"/>
                </a:solidFill>
              </a:rPr>
              <a:t>- 这和 Reg-DPO 论文指出的早饱和现象一致，也解释了为什么后面必须补充 inside_term 与 loser-dominant 诊断。</a:t>
            </a:r>
            <a:endParaRPr sz="1640" b="0">
              <a:solidFill>
                <a:srgbClr val="214E43"/>
              </a:solidFill>
            </a:endParaRPr>
          </a:p>
        </p:txBody>
      </p:sp>
      <p:pic>
        <p:nvPicPr>
          <p:cNvPr id="7" name="Picture 6" descr="01_early_implicit_ac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353312"/>
            <a:ext cx="5074920" cy="22957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650992"/>
            <a:ext cx="10835640" cy="566928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20" b="0">
                <a:solidFill>
                  <a:srgbClr val="214E43"/>
                </a:solidFill>
              </a:rPr>
              <a:t>解读重点：implicit_acc = 1 不能单独解释为训练成功，必须与 win_gap / sigma_term / dpo_loss / grad norm 一起读。</a:t>
            </a:r>
            <a:endParaRPr sz="1520" b="0">
              <a:solidFill>
                <a:srgbClr val="214E43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214E43"/>
                </a:solidFill>
              </a:rPr>
              <a:t>Research Deck</a:t>
            </a:r>
            <a:endParaRPr sz="1200" b="0">
              <a:solidFill>
                <a:srgbClr val="214E4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16768" y="6419088"/>
            <a:ext cx="868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31/39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0">
                <a:solidFill>
                  <a:srgbClr val="214E43"/>
                </a:solidFill>
              </a:rPr>
              <a:t>首次失败 Run 的训练曲线（1/2）</a:t>
            </a:r>
            <a:endParaRPr sz="2500" b="0">
              <a:solidFill>
                <a:srgbClr val="214E43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7512" y="978408"/>
            <a:ext cx="105156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120" b="0">
                <a:solidFill>
                  <a:srgbClr val="214E43"/>
                </a:solidFill>
              </a:rPr>
              <a:t>重建来源：/log/DPO_Finetune_S1.log 的每 300 step 控制台诊断；图中趋势用于复盘训练动力学。</a:t>
            </a:r>
            <a:endParaRPr sz="1120" b="0">
              <a:solidFill>
                <a:srgbClr val="214E43"/>
              </a:solidFill>
            </a:endParaRPr>
          </a:p>
        </p:txBody>
      </p:sp>
      <p:pic>
        <p:nvPicPr>
          <p:cNvPr id="7" name="Picture 6" descr="02_panel_relativ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032" y="1225296"/>
            <a:ext cx="9372600" cy="2676601"/>
          </a:xfrm>
          <a:prstGeom prst="rect">
            <a:avLst/>
          </a:prstGeom>
        </p:spPr>
      </p:pic>
      <p:pic>
        <p:nvPicPr>
          <p:cNvPr id="8" name="Picture 7" descr="03_panel_mse_l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032" y="3913632"/>
            <a:ext cx="9372600" cy="267660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214E43"/>
                </a:solidFill>
              </a:rPr>
              <a:t>Research Deck</a:t>
            </a:r>
            <a:endParaRPr sz="1200" b="0">
              <a:solidFill>
                <a:srgbClr val="214E4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16768" y="6419088"/>
            <a:ext cx="868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32/39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0">
                <a:solidFill>
                  <a:srgbClr val="214E43"/>
                </a:solidFill>
              </a:rPr>
              <a:t>首次失败 Run 的训练曲线（2/2）</a:t>
            </a:r>
            <a:endParaRPr sz="2500" b="0">
              <a:solidFill>
                <a:srgbClr val="214E43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7512" y="978408"/>
            <a:ext cx="105156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120" b="0">
                <a:solidFill>
                  <a:srgbClr val="214E43"/>
                </a:solidFill>
              </a:rPr>
              <a:t>上图用于判断“是否只是排序赢了”；下图用于判断“loss 是否过早归零，梯度是否已经基本消失”。</a:t>
            </a:r>
            <a:endParaRPr sz="1120" b="0">
              <a:solidFill>
                <a:srgbClr val="214E43"/>
              </a:solidFill>
            </a:endParaRPr>
          </a:p>
        </p:txBody>
      </p:sp>
      <p:pic>
        <p:nvPicPr>
          <p:cNvPr id="7" name="Picture 6" descr="04_panel_gaps_kl_ac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032" y="1225296"/>
            <a:ext cx="9372600" cy="2676601"/>
          </a:xfrm>
          <a:prstGeom prst="rect">
            <a:avLst/>
          </a:prstGeom>
        </p:spPr>
      </p:pic>
      <p:pic>
        <p:nvPicPr>
          <p:cNvPr id="8" name="Picture 7" descr="05_panel_loss_gr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169663"/>
            <a:ext cx="5806440" cy="24354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03720" y="4251960"/>
            <a:ext cx="3977639" cy="1828800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20" b="0">
                <a:solidFill>
                  <a:srgbClr val="214E43"/>
                </a:solidFill>
              </a:rPr>
              <a:t>这一页的关键信息：</a:t>
            </a:r>
            <a:endParaRPr sz="1520" b="0">
              <a:solidFill>
                <a:srgbClr val="214E43"/>
              </a:solidFill>
            </a:endParaRPr>
          </a:p>
          <a:p>
            <a:pPr>
              <a:spcAft>
                <a:spcPts val="400"/>
              </a:spcAft>
            </a:pPr>
            <a:r>
              <a:rPr sz="1520" b="0">
                <a:solidFill>
                  <a:srgbClr val="214E43"/>
                </a:solidFill>
              </a:rPr>
              <a:t>- implicit_acc 很早到 1，但不能说明 GT 侧真的提升。</a:t>
            </a:r>
            <a:endParaRPr sz="1520" b="0">
              <a:solidFill>
                <a:srgbClr val="214E43"/>
              </a:solidFill>
            </a:endParaRPr>
          </a:p>
          <a:p>
            <a:pPr>
              <a:spcAft>
                <a:spcPts val="400"/>
              </a:spcAft>
            </a:pPr>
            <a:r>
              <a:rPr sz="1520" b="0">
                <a:solidFill>
                  <a:srgbClr val="214E43"/>
                </a:solidFill>
              </a:rPr>
              <a:t>- kl_divergence 继续上升，说明 policy 仍在偏离 ref。</a:t>
            </a:r>
            <a:endParaRPr sz="1520" b="0">
              <a:solidFill>
                <a:srgbClr val="214E43"/>
              </a:solidFill>
            </a:endParaRPr>
          </a:p>
          <a:p>
            <a:pPr>
              <a:spcAft>
                <a:spcPts val="400"/>
              </a:spcAft>
            </a:pPr>
            <a:r>
              <a:rPr sz="1520" b="0">
                <a:solidFill>
                  <a:srgbClr val="214E43"/>
                </a:solidFill>
              </a:rPr>
              <a:t>- dpo_loss 快速归零、dgr_grad_norm 贴近 0，说明 DPO loss 很早失去有效更新。</a:t>
            </a:r>
            <a:endParaRPr sz="1520" b="0">
              <a:solidFill>
                <a:srgbClr val="214E43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214E43"/>
                </a:solidFill>
              </a:rPr>
              <a:t>Research Deck</a:t>
            </a:r>
            <a:endParaRPr sz="1200" b="0">
              <a:solidFill>
                <a:srgbClr val="214E4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16768" y="6419088"/>
            <a:ext cx="868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33/39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0">
                <a:solidFill>
                  <a:srgbClr val="214E43"/>
                </a:solidFill>
              </a:rPr>
              <a:t>为什么训练时必须建立这些图表（核心 DPO 指标）</a:t>
            </a:r>
            <a:endParaRPr sz="2500" b="0">
              <a:solidFill>
                <a:srgbClr val="214E43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70432"/>
          <a:ext cx="1120140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3611880"/>
                <a:gridCol w="5989320"/>
              </a:tblGrid>
              <a:tr h="588645">
                <a:tc>
                  <a:txBody>
                    <a:bodyPr/>
                    <a:lstStyle/>
                    <a:p>
                      <a:r>
                        <a:rPr sz="1330" b="1">
                          <a:solidFill>
                            <a:srgbClr val="FFFFFF"/>
                          </a:solidFill>
                        </a:rPr>
                        <a:t>Metric</a:t>
                      </a:r>
                      <a:endParaRPr sz="1330" b="1">
                        <a:solidFill>
                          <a:srgbClr val="FFFFFF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214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1">
                          <a:solidFill>
                            <a:srgbClr val="FFFFFF"/>
                          </a:solidFill>
                        </a:rPr>
                        <a:t>它是什么</a:t>
                      </a:r>
                      <a:endParaRPr sz="1330" b="1">
                        <a:solidFill>
                          <a:srgbClr val="FFFFFF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214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1">
                          <a:solidFill>
                            <a:srgbClr val="FFFFFF"/>
                          </a:solidFill>
                        </a:rPr>
                        <a:t>为什么必须监控</a:t>
                      </a:r>
                      <a:endParaRPr sz="1330" b="1">
                        <a:solidFill>
                          <a:srgbClr val="FFFFFF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214E43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inside_term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-0.5β[(Lw-Ll)_policy-(Lw-Ll)_ref]，sigmoid 输入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直接决定当前样本是否真的比 ref 更满足偏好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dpo_loss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-log σ(inside_term)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如果过快接近 0，通常意味着训练过早饱和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implicit_acc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P(inside_term &gt; 0)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衡量 policy 相对 ref 满足偏好的比例；多卡下必须做全局 gather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sigma_term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σ(inside_term)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判断是否进入 sigmoid 饱和区；长期接近 1 说明梯度会迅速变小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win_gap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mse_w - ref_mse_w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本项目 winner=GT，理想值应 &lt; 0；否则说明 GT 侧可能退化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lose_gap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mse_l - ref_mse_l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可以为正，但不能只靠它单独变大来“赢”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reward_margin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ref_mse_w - ref_mse_l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30" b="0">
                          <a:solidFill>
                            <a:srgbClr val="214E43"/>
                          </a:solidFill>
                        </a:rPr>
                        <a:t>查看 ref 自身对 winner / loser 的可分性，判断偏好任务是否清晰</a:t>
                      </a:r>
                      <a:endParaRPr sz="133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5797296"/>
            <a:ext cx="10835640" cy="384048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420" b="0">
                <a:solidFill>
                  <a:srgbClr val="214E43"/>
                </a:solidFill>
              </a:rPr>
              <a:t>核心读图原则：任何单个指标都不能独立宣告“训练成功”，必须把排序指标、质量指标和梯度指标结合起来判断。</a:t>
            </a:r>
            <a:endParaRPr sz="1420" b="0">
              <a:solidFill>
                <a:srgbClr val="214E43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214E43"/>
                </a:solidFill>
              </a:rPr>
              <a:t>Research Deck</a:t>
            </a:r>
            <a:endParaRPr sz="1200" b="0">
              <a:solidFill>
                <a:srgbClr val="214E4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16768" y="6419088"/>
            <a:ext cx="868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34/39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0">
                <a:solidFill>
                  <a:srgbClr val="214E43"/>
                </a:solidFill>
              </a:rPr>
              <a:t>为什么训练时必须建立这些图表（质量与稳定性）</a:t>
            </a:r>
            <a:endParaRPr sz="2500" b="0">
              <a:solidFill>
                <a:srgbClr val="214E43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70432"/>
          <a:ext cx="1120140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3611880"/>
                <a:gridCol w="5623560"/>
              </a:tblGrid>
              <a:tr h="565785">
                <a:tc>
                  <a:txBody>
                    <a:bodyPr/>
                    <a:lstStyle/>
                    <a:p>
                      <a:r>
                        <a:rPr sz="1320" b="1">
                          <a:solidFill>
                            <a:srgbClr val="FFFFFF"/>
                          </a:solidFill>
                        </a:rPr>
                        <a:t>Metric</a:t>
                      </a:r>
                      <a:endParaRPr sz="1320" b="1">
                        <a:solidFill>
                          <a:srgbClr val="FFFFFF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214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1">
                          <a:solidFill>
                            <a:srgbClr val="FFFFFF"/>
                          </a:solidFill>
                        </a:rPr>
                        <a:t>它是什么</a:t>
                      </a:r>
                      <a:endParaRPr sz="1320" b="1">
                        <a:solidFill>
                          <a:srgbClr val="FFFFFF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214E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1">
                          <a:solidFill>
                            <a:srgbClr val="FFFFFF"/>
                          </a:solidFill>
                        </a:rPr>
                        <a:t>为什么必须监控</a:t>
                      </a:r>
                      <a:endParaRPr sz="1320" b="1">
                        <a:solidFill>
                          <a:srgbClr val="FFFFFF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214E43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mse_w / mse_l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policy 对 winner / loser 的绝对误差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区分“排序赢了”还是“GT 真的更好了”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kl_divergence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0.5 * (mean model loss - mean ref loss)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监控 policy 偏离 ref 的程度，太大可能意味着漂移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dgr_grad_norm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DPO loss 对可训练参数的梯度范数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如果接近 0，说明 DPO loss 已基本不给有效更新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grad_norm_ratio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DGR / 总 grad norm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判断当前更新里有多少比例仍来自 DPO 信号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lr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学习率计划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排除 scheduler 本身异常；本次 run 的早饱和并不是 lr 导致的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inside_term_mean/min/max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新增：inside_term 的全局分布统计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看 sigmoid 输入是否整体偏正、是否全部过早饱和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loser_dominant_ratio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新增：正确样本中 loser 退化贡献更大的比例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20" b="0">
                          <a:solidFill>
                            <a:srgbClr val="214E43"/>
                          </a:solidFill>
                        </a:rPr>
                        <a:t>识别“主要靠 loser 变差获胜”的假性成功</a:t>
                      </a:r>
                      <a:endParaRPr sz="1320" b="0">
                        <a:solidFill>
                          <a:srgbClr val="214E43"/>
                        </a:solidFill>
                      </a:endParaRPr>
                    </a:p>
                  </a:txBody>
                  <a:tcPr marL="54864" marR="54864" marT="27432" marB="27432">
                    <a:solidFill>
                      <a:srgbClr val="FFF9F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5532120"/>
            <a:ext cx="10835640" cy="658368"/>
          </a:xfrm>
          <a:prstGeom prst="rect">
            <a:avLst/>
          </a:prstGeom>
          <a:solidFill>
            <a:srgbClr val="FFF9F0"/>
          </a:solidFill>
          <a:ln>
            <a:noFill/>
          </a:ln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420" b="0">
                <a:solidFill>
                  <a:srgbClr val="214E43"/>
                </a:solidFill>
              </a:rPr>
              <a:t>本轮代码修正已经完成：beta_dpo 改为 CLI 默认 500，implicit_acc 改为跨卡全局指标，并新增 inside_term_* 与 loser_dominant_ratio。</a:t>
            </a:r>
            <a:endParaRPr sz="1420" b="0">
              <a:solidFill>
                <a:srgbClr val="214E43"/>
              </a:solidFill>
            </a:endParaRPr>
          </a:p>
          <a:p>
            <a:pPr>
              <a:spcAft>
                <a:spcPts val="400"/>
              </a:spcAft>
            </a:pPr>
            <a:r>
              <a:rPr sz="1420" b="0">
                <a:solidFill>
                  <a:srgbClr val="214E43"/>
                </a:solidFill>
              </a:rPr>
              <a:t>当前集群仍在修复中，因此“修正后监控面板”的新曲线需要等下一次 rerun 才能补进报告。</a:t>
            </a:r>
            <a:endParaRPr sz="1420" b="0">
              <a:solidFill>
                <a:srgbClr val="214E43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35/39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正式实验前必须 Pre 的内容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08192"/>
            <a:ext cx="10835640" cy="594360"/>
          </a:xfrm>
          <a:prstGeom prst="rect">
            <a:avLst/>
          </a:prstGeom>
          <a:solidFill>
            <a:srgbClr val="FFF9F0"/>
          </a:solidFill>
          <a:ln>
            <a:solidFill>
              <a:srgbClr val="D2DFD5"/>
            </a:solidFill>
          </a:ln>
        </p:spPr>
        <p:txBody>
          <a:bodyPr wrap="square" anchor="t">
            <a:spAutoFit/>
          </a:bodyPr>
          <a:lstStyle/>
          <a:p>
            <a:r>
              <a:t>不需要特别展开的简单工程项：</a:t>
            </a:r>
          </a:p>
          <a:p>
            <a:r>
              <a:t>sbatch 封装 | cache 重定向 | 常规日志输出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8872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16052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必须 Pre 的内容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14E43"/>
                          </a:solidFill>
                          <a:latin typeface="Noto Sans CJK SC"/>
                        </a:rPr>
                        <a:t>为什么是硬前提</a:t>
                      </a:r>
                      <a:endParaRPr sz="1200" b="1">
                        <a:solidFill>
                          <a:srgbClr val="214E43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D2DFD5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1. 先固定主任务：BR 还是 OR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两条任务的 GT、mask、指标、benchmark 完全不同，不固定就无法解释结果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2. 先固定主表协议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先固定主 BR 表：优先看 `Native-Best-FullRes-24G / BR` 与 `Native-Best-Fix-240-432-FullRes-24G / BR`；若需要 low-res 对照，再看 `Native-Best-Fix-240-432-24G / BR`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3. 负样本必须与训练窗口对齐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214E43"/>
                          </a:solidFill>
                        </a:rPr>
                        <a:t>正式主设定仍应与 16 帧评分窗口对齐；若因 OOM 临时改成 nframes=8，必须单独标记为 fallback run，不能与正式主表混合解释</a:t>
                      </a:r>
                      <a:endParaRPr sz="1400">
                        <a:solidFill>
                          <a:srgbClr val="214E43"/>
                        </a:solidFill>
                      </a:endParaRP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4. Stage 2 采样必须避开 chimera 缝合线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否则 MotionModule 学到的是伪时序断裂，不是真实修复偏好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5. BrushNet 条件必须对 pos / neg 共用 GT masked image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否则会出现 conditioning 信息泄漏，DPO 失真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6. Policy / Reference 必须共用同一份 SFT 初始化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DPO 的“偏好增量”必须建立在同一基线之上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7. MotionModule 初始化必须来自 DiffuEraser baseline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不应从原始 AnimateDiff 重新起跑，否则时序学习难度过高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8. Stage 2 必须加入 Ewarp / TC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只看 PSNR / SSIM 会误选高分但闪烁严重的权重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9. DAVIS 过采样与数据平衡要先定死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73035"/>
                          </a:solidFill>
                          <a:latin typeface="Noto Sans CJK SC"/>
                        </a:rPr>
                        <a:t>DAVIS 数量远少于 YTVOS，不处理会让验证集风格被稀释</a:t>
                      </a:r>
                      <a:endParaRPr sz="1100" b="0">
                        <a:solidFill>
                          <a:srgbClr val="273035"/>
                        </a:solidFill>
                        <a:latin typeface="Noto Sans CJK SC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36/39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建议的实验路线图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t>1. 先锁定 BR 主 benchmark：`Native-Best-FullRes-24G / BR`、`Native-Best-Fix-240-432-FullRes-24G / BR`，并用 `Native-Best-Fix-240-432-24G / BR` 做 low-res 对照。</a:t>
            </a:r>
          </a:p>
          <a:p>
            <a:r>
              <a:t>2. 以当前 SFT DiffuEraser 作为 0 号 baseline，再做统一 benchmark。</a:t>
            </a:r>
          </a:p>
          <a:p>
            <a:r>
              <a:t>3. 在主表固定后，再推进 DPO smoke test 与正式训练。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37/39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14E43"/>
                </a:solidFill>
                <a:latin typeface="Noto Sans CJK SC"/>
              </a:defRPr>
            </a:pPr>
            <a:r>
              <a:t>结束页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r>
              <a:t>论文综述主线：方法谱系、数据集、setting、benchmark 已经完整闭环</a:t>
            </a:r>
          </a:p>
          <a:p>
            <a:r>
              <a:t>结果主线：固定 benchmark 的 12 张表已经更新进 PPT，可直接作为当前定量部分</a:t>
            </a:r>
          </a:p>
          <a:p>
            <a:r>
              <a:t>最重要的三张 BR 表：`Native-Best-FullRes-24G / BR`、`Native-Best-Fix-240-432-FullRes-24G / BR`、`Native-Best-Fix-240-432-24G / BR`</a:t>
            </a:r>
          </a:p>
          <a:p>
            <a:r>
              <a:t>我们自己的工作主线：SFT / DPO 继续围绕 DiffuEraser 主干推进，MiniMax 作为强 frozen 对照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38/39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Diffueraser_vs_MiniMax 结果占位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315277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t>待插入表格：`Native-Best-24G / BR`</a:t>
            </a:r>
          </a:p>
          <a:p/>
          <a:p>
            <a:r>
              <a:t>内容：DiffuEraser 三个权重 + PCM / raw steps + MiniMax 6 / 12 / 50。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4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61320" y="411480"/>
            <a:ext cx="1143000" cy="320040"/>
          </a:xfrm>
          <a:prstGeom prst="roundRect">
            <a:avLst/>
          </a:prstGeom>
          <a:solidFill>
            <a:srgbClr val="D2D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14E43"/>
                </a:solidFill>
                <a:latin typeface="Noto Sans CJK SC"/>
              </a:defRPr>
            </a:pPr>
            <a:r>
              <a:t>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44200" y="64008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39/39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Diffueraser_vs_MiniMax 结果占位 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315277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Autofit/>
          </a:bodyPr>
          <a:lstStyle/>
          <a:p>
            <a:r>
              <a:t>待插入表格：`Native-Best-FullRes-24G / BR`</a:t>
            </a:r>
          </a:p>
          <a:p/>
          <a:p>
            <a:r>
              <a:t>内容：DiffuEraser 三个权重 + PCM / raw steps + MiniMax 6 / 12 / 50。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17913</Words>
  <Application>WPS 演示</Application>
  <PresentationFormat>On-screen Show (4:3)</PresentationFormat>
  <Paragraphs>2329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5" baseType="lpstr">
      <vt:lpstr>Arial</vt:lpstr>
      <vt:lpstr>宋体</vt:lpstr>
      <vt:lpstr>Wingdings</vt:lpstr>
      <vt:lpstr>Arial</vt:lpstr>
      <vt:lpstr>Noto Sans CJK SC</vt:lpstr>
      <vt:lpstr>Segoe Print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黄驾</cp:lastModifiedBy>
  <cp:revision>5</cp:revision>
  <dcterms:created xsi:type="dcterms:W3CDTF">2013-01-27T09:14:00Z</dcterms:created>
  <dcterms:modified xsi:type="dcterms:W3CDTF">2026-04-03T20:10:12Z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C79570920F9D4A33BAB3E1B34C16E7C0</vt:lpwstr>
  </property>
  <property fmtid="{D5CDD505-2E9C-101B-9397-08002B2CF9AE}" pid="3" name="KSOProductBuildVer">
    <vt:lpwstr>2052-11.8.2.12195</vt:lpwstr>
  </property>
</Properties>
</file>