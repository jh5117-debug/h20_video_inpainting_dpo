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84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5" r:id="rId29"/>
    <p:sldId id="286" r:id="rId30"/>
    <p:sldId id="287" r:id="rId31"/>
    <p:sldId id="288" r:id="rId32"/>
    <p:sldId id="289" r:id="rId33"/>
    <p:sldId id="290" r:id="rId34"/>
    <p:sldId id="280" r:id="rId35"/>
    <p:sldId id="281" r:id="rId36"/>
    <p:sldId id="282" r:id="rId3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4E43"/>
                </a:solidFill>
                <a:latin typeface="Noto Sans CJK SC"/>
              </a:defRPr>
            </a:pPr>
            <a:r>
              <a:t>Video Inpainting 全景、统一 Benchmark 与 DiffuEraser-VideoDPO 实验规划</a:t>
            </a:r>
          </a:p>
          <a:p>
            <a:pPr>
              <a:spcBef>
                <a:spcPts val="600"/>
              </a:spcBef>
              <a:defRPr sz="1400">
                <a:solidFill>
                  <a:srgbClr val="5C6870"/>
                </a:solidFill>
                <a:latin typeface="Noto Sans CJK SC"/>
              </a:defRPr>
            </a:pPr>
            <a:r>
              <a:t>Video Inpainting / Benchmark / DiffuEraser VideoDPO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200400" cy="502920"/>
          </a:xfrm>
          <a:prstGeom prst="roundRect">
            <a:avLst/>
          </a:prstGeom>
          <a:solidFill>
            <a:srgbClr val="C97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Survey + Unified Bench + DPO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2194560"/>
            <a:ext cx="2926080" cy="3200400"/>
          </a:xfrm>
          <a:prstGeom prst="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410" y="2210435"/>
            <a:ext cx="7155815" cy="243776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副标题：基于 `video_inpainting_papers_summary.md` 与 `DPO_Project_Complete_Summary.md`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1：梳理 Video Inpainting 代表论文、数据集、训练/推理 setting、benchmark 与方法逻辑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2：给出固定 benchmark 之后的详细 test 结果表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3：说明当前 DiffuEraser VideoDPO 框架状态，以及正式实验前必须 pre 的关键前提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4E43"/>
                </a:solidFill>
                <a:latin typeface="Noto Sans CJK SC"/>
              </a:defRPr>
            </a:pPr>
            <a:r>
              <a:t>核心问题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论文全景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固定 benchmark 结果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DiffuEraser DPO 路线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Video Inpainting 目前已经分化为 4 条主线：BR、OR、Text-guided Editing(一个车正在路上行驶)、Language-driven Editing(去掉右边戴帽子的那个人)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真正跨论文可复用的 benchmark 很少：BR 基本是 `STTN/E2FGVI Protocol`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OR 方向至今没有像 STTN/E2FGVI 那样被社区统一接受的公共 benchmark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DiffuEraser 原论文没有定量表，但在后续论文与本地统一复现实验里依然是强 baseline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3/35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任务类型与可比性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结论：不同 task 的指标体系并不统一，尤其 BR 的全图 PSNR/SSIM 与 OR 的背景区域 PSNR/SSIM 不能直接横向比较。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3210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是否有完整 GT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常见 Mask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常见指标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代表方法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是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stationary / random synthetic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 FFF-VDI, HomoGen, FloED(BR)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通常没有完整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SAM / object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PSNR(bg), SSIM(bg), TC, VQ, Succ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DiffuEraser, MiniMax, RT-Remover, FloED(OR)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Text-guided 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否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user / instance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CS, BP, TC, VQ,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AVID, CoCoCo, 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Language-driven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是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referring segmentation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4/35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方法演化脉络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传播补全流派：`STTN -&gt; FuseFormer -&gt; E2FGVI -&gt; ProPainter`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生成式 BR / OR：`DiffuEraser`、`FFF-VDI`、`FloED`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直接生成式 OR：`MiniMax-Remover`、`RT-Remover`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编辑导向流派：`AVID`、`CoCoCo`、`VideoRepainter`、`VideoComposer`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语言与统一建模流派：`LGVI`、`VACE`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核心分歧：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一类方法强调“传播已有背景，再做细节补偿”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一类方法强调“直接在视频 latent 空间里生成修复结果”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一类方法强调“把 inpainting 当成编辑任务，依赖文本、关键帧或语言指令”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5/35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4820" y="201295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I：BR / 传播 / 扩散主线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731520"/>
          <a:ext cx="10972800" cy="475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YouTube-VOS; Test: DAVIS + YT-VOS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432x240；80 帧子序列；overlap；mask dilation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光流传播 + transformer 补全 + 重叠子视频融合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Panda-70M；Test: 原论文仅定性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 512；Infer 最多 1280；22 帧 clip；pre-infer anchors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原论文无定量；后续论文与本地 bench 常作 baseline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 prior + diffusion denoise + blended refinement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FFF-VDI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YouTube-VOS；Test: DAVIS + YT-VOS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448x256；训练 14 帧；固定分辨率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先完成第一帧，再用 I2V diffusion 传播整段视频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Open-Sora 421K；Test: 自建 100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512；16 帧；anchor frame；DDIM 25 steps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光流引导扩散 + anchor frame + latent interpolation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HomoGen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内部 Shutterstock；Test: YT-VOS + DAVIS + RORD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GoP 分段；重叠 GoP；240x432 评估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 + RORD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homography propagation + diffusion refinement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 + LAION；Test: 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256x256；16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自建多任务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STC-encoder 统一多条件，inpainting 只是其一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6/35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2514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II：OR / 编辑主线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7640" y="83058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Shutterstock 私有；Test: 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512；约 16 帧；MultiDiffusion sliding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自建文本编辑集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文本驱动替换 / 移除 / 背景编辑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 + Pexels stage2；Test: DAVIS + Pexels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480p；81 帧；6/12/50 steps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DiT 直接对象移除，大窗口少步采样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WebVid-10M；Test: 自建 300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 256；Infer 256 或 512x320；16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文本 + mask 区域生成，强调文本对齐与时序一致性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内部 watermark-free 300K；Test: DAVIS + wild 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576x1024；14/25 帧；coarse-to-fine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用户先编辑关键帧，再借助 I2V 传播到整段视频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7/35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III：语言驱动 / 统一框架 / 开源状态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8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ROVI 5650 + GQA-Inpaint；Test: ROVI 478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512x320；24 帧；固定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ROVI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用自然语言指代目标，再做 language-driven video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RT-Remover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 + Pexels distill；Test: DAVIS + Pexels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480x832；81 帧；autoregressive + KV cache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只给第一帧 mask，在线追踪与移除一体化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Tongyi 内部大数据；Test: 作为 baseline 出现在 MiniMax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480x832 / 720x1280；约 81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无专门 inpainting 主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VCU 统一多任务输入，MV2V 中包含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开源分层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代表方法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启发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训练 + 推理较完整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ProPainter, DiffuEraser, VideoRepainter, 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最适合继续系统复现或微调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仅推理或部分开源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MiniMax, CoCoCo, FloED, VideoComposer, 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适合做 frozen baseline，不适合直接接 DPO 训练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未开源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AVID, HomoGen, RT-Remover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只能参考论文设计，难以真实复现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8/35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Benchmark 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结论：如果要做跨方法稳定对比，主报告最好只固定两条线：`BR` 和 `OR`；不要把 text-guided / language-driven 混进同一主表。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测试集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Mask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指标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当前复用状态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 Protocol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50 + YT-VOS 508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Stationary 432x240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 社区事实标准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90 + Pexels 200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SAM2 object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SSIM(bg), PSNR(bg), TC, VQ, Succ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 / RT 在用，但尚未标准化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 +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 100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random + SAM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Ewarp, TC,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ROVI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Language-driven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478 test videos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referring segmentation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唯一公开 language-driven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 TestSet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Text-guided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 300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instance-aware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CS, BP, TC, VQ,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 Set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50 + 20 wild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object / user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Cons, PSNR(Bg), MSE(Bg), AS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9/35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固定 Benchmark 的四组协议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主报告建议：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BR 主表：`Native-Best-Fix-nFrames-Fix-240-432-24G / BR`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OR 主表：`Native-Best-Fix-nFrames-Fix-240-432-24G / OR`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3210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协议名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主要约束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保留的方法原生部分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最适合回答的问题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单卡 24GB 可运行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infer resolution / frame budget，必要时做 24G 兜底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在 24GB 约束下谁最强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Native-Best-Fix-240-432-24G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统一推理 / 评测分辨率为 432x240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frame budget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去掉分辨率差异后谁最强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Native-Best-Fix-nFrames-24G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统一评测窗口到最小可行帧预算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infer resolution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去掉时序窗口差异后谁最强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Native-Best-Fix-nFrames-Fix-240-432-24G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同时固定分辨率和帧预算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仅保留原生 steps / cfg / prompt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可比性最强，最适合做主表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10/35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固定 Benchmark 结果 I：Native-Best-24G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结论：在“不完全公平但真实可运行”的 24GB 协议里，VACE 和 ProPainter 分数最强，但其中包含原生分辨率与窗口长度差异。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Method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PSNR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SSIM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LPIPS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Ewarp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VFID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TC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AS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IS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Frames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35.6958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0.9880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0.0128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2.8629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0.1056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0.9719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0.0050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1.1980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35.5167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0.9813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0.0141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7.4734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0.0818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0.9703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1.2362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33.2032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0.9713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0.0192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3.9664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0.0886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0.9698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0.0260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1.2377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32.4993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0.9660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0.0103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4.1392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0.1155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0.9740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0.0124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1.2006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31.3290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0.9641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0.0171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8.5232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0.1043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0.9671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0.0100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1.2484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30.3600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0.9548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0.0383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3.1767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0.3940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0.9714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0.0230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1.2006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26.7604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0.9275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0.0336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6.1940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0.4773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0.9699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0.0110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1.1836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11/35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固定 Benchmark 结果 II：Native-Best-24G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结论：OR 方向最强 baseline 是 MiniMax-Remover；但它公开仓库没有训练路径，更适合当 frozen reference，而不是 DPO 主干。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Method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PSNR(bg)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SSIM(bg)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TC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Frames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29.1795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0.9597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0.9719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69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28.4034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0.9575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0.9720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17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23.1751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0.8419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0.9582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71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22.6762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0.8543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0.9571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21.6843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0.8343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0.9442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21.2679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0.7879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0.9545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71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19.7665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0.7015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0.9768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12/35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固定 Benchmark 结果 III：Fix-240-432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结论：把分辨率固定到 432x240 后，VACE 的优势大幅回落；FloED 成为最强生成式 BR 参考。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Method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PSNR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SSIM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LPIPS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Ewarp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VFID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TC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AS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IS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Frames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35.5167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0.9813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0.0141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7.4734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0.0818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0.9703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N/A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1.2362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32.4996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0.9660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0.0103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4.1395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0.1152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0.9740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0.0474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1.2007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31.4162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0.9622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0.0187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4.2674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0.1025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0.9685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0.0049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1.2494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31.3771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0.9646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0.0171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8.5671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0.1045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0.9674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0.0030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1.2475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29.7451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0.9552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0.0296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4.0987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0.3090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0.9688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0.0161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1.2157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28.0473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0.9363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0.0459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3.6931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0.4946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0.9688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0.0192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1.2202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26.7599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0.9275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0.0336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6.1960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0.4756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0.9698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0.0086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1.1835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13/35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固定 Benchmark 结果 IV：Fix-240-432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结论：固定分辨率之后，OR 排名结构基本不变，MiniMax 仍明显领先。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Method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PSNR(bg)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SSIM(bg)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TC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Frames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25.9587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0.9207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0.9663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69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24.9852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0.9174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0.9690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17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23.1751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0.8419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0.9582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71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22.6759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0.8542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0.9572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21.1869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0.7902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0.9472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71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19.7666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0.7015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0.9768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19.2409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0.6907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0.9570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14/35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固定 Benchmark 结果 V：Fix-nFrames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结论：统一窗口长度后，ProPainter 仍是强非生成式参考；生成式里 FloED 和 DiffuEraser 更有代表性。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Method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PSNR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SSIM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LPIPS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Ewarp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VFID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TC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AS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IS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Frames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35.1758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0.9783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0.0157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6.7386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0.2269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0.9723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0.0155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1.1812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32.4986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0.9660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0.0103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4.1395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0.1149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0.9739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0.0048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1.2008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31.8848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0.9645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0.0219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3.2322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0.2712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0.9712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0.0353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1.2038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31.3740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0.9624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0.0174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7.2421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0.2495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0.9712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0.0102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1.1951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31.2880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0.9625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0.0210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4.4389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0.2556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0.9693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0.0117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1.2444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30.3589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0.9548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0.0383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3.1768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0.3941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0.9713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0.0191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1.2008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26.7611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0.9276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0.0336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6.1736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0.4783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0.9699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0.0340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1.1838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15/35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固定 Benchmark 结果 VI：Fix-nFrames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结论：把 OR 统一到 16 帧后，DiffuEraser 与 CoCoCo、VideoComposer 的差距缩小，但仍落后于 MiniMax。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Method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PSNR(bg)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SSIM(bg)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TC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Frames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29.1117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0.9600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0.9738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23.2990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0.8471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0.9620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22.6758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0.8543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0.9571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21.6846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0.8343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0.9444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21.5495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0.7977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0.9621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21.2431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0.7253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0.9680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19.7665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0.7015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0.9768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16/35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固定 Benchmark 结果 VII：Fix-nFrames + Fix-240-432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结论：这是当前 BR 可比性最强的主表。非生成式最强是 ProPainter，生成式最强是 FloED，DiffuEraser 是最适合继续做 DPO 的生成式主干。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Method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PSNR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SSIM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LPIPS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Ewarp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VFID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TC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AS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IS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14E43"/>
                          </a:solidFill>
                          <a:latin typeface="Noto Sans CJK SC"/>
                        </a:rPr>
                        <a:t>Frames</a:t>
                      </a:r>
                      <a:endParaRPr sz="9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35.1758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0.9783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0.0157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6.7386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0.2269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0.9723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0.0048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1.1812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32.4986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0.9660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0.0103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4.1396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0.1149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0.9739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1.2001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31.4963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0.9638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0.0165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7.2389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0.2644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N/A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1.1880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30.3754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0.9524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0.0220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3.5874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0.2927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0.9702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0.0094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1.1894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28.7083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0.9450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0.0324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5.1222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0.3904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0.9674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0.0121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1.2422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28.0479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0.9363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0.0459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3.6930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0.4949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0.9688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0.0476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1.2206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26.3257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0.9256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0.0351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6.1360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0.4668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0.9704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0.0322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1.1773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8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17/35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固定 Benchmark 结果 VIII：Fix-nFrames + Fix-240-432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结论：这是当前 OR 可比性最强的主表。最强 frozen baseline 是 MiniMax-Remover，DiffuEraser 仍是更现实的可训练主干。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Method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PSNR(bg)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SSIM(bg)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TC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Frames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25.9349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0.9216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0.9681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23.2990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0.8471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0.9620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22.6760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0.8543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0.9572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21.2660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0.7943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0.9545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20.5765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0.7119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0.9633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13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19.7665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0.7015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0.9768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15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19.2410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0.6907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0.9570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14E43"/>
                </a:solidFill>
              </a:rPr>
              <a:t>Research Deck</a:t>
            </a:r>
            <a:endParaRPr sz="1100" b="1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18/35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14E43"/>
                </a:solidFill>
              </a:rPr>
              <a:t>固定 Benchmark 结果 IX：为什么 setting 变化会放大 BR 指标差异</a:t>
            </a:r>
            <a:endParaRPr sz="2200" b="1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1282680" cy="3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554480"/>
                <a:gridCol w="1463040"/>
                <a:gridCol w="2286000"/>
                <a:gridCol w="3053080"/>
              </a:tblGrid>
              <a:tr h="776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Native-Best-24G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Fix-240-432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Fix-nFrames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Fix-nFrames + Fix-240-432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主要波动来源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</a:tr>
              <a:tr h="776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020"/>
                          </a:solidFill>
                        </a:rPr>
                        <a:t>VACE</a:t>
                      </a:r>
                      <a:endParaRPr sz="1150" b="1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35.70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29.75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31.29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28.71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最吃分辨率; 832x480 native-style 推理带来明显增益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6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020"/>
                          </a:solidFill>
                        </a:rPr>
                        <a:t>DiffuEraser</a:t>
                      </a:r>
                      <a:endParaRPr sz="1150" b="1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31.33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31.38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31.37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31.50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BR 设置几乎不变; fixed-nFrames 内部仍补到 23 帧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6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020"/>
                          </a:solidFill>
                        </a:rPr>
                        <a:t>MiniMax-Remover</a:t>
                      </a:r>
                      <a:endParaRPr sz="1150" b="1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33.20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31.42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31.88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30.38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同时受高分辨率与长窗口影响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6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020"/>
                          </a:solidFill>
                        </a:rPr>
                        <a:t>FloED</a:t>
                      </a:r>
                      <a:endParaRPr sz="1150" b="1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32.50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32.50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32.50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32.50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24G family 下几乎一直是 432x240 + 16f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230000"/>
            <a:ext cx="10835640" cy="1460000"/>
          </a:xfrm>
          <a:prstGeom prst="rect">
            <a:avLst/>
          </a:prstGeom>
          <a:solidFill>
            <a:srgbClr val="FFF9F0"/>
          </a:solidFill>
          <a:ln w="10160">
            <a:solidFill>
              <a:srgbClr val="E5D7C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02020"/>
                </a:solidFill>
              </a:rPr>
              <a:t>结论：同一模型跨表波动并不等于“模型本身不稳定”，主要由 infer resolution 与 frame budget 是否被固定决定。</a:t>
            </a:r>
            <a:endParaRPr sz="1350" b="1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14E43"/>
                </a:solidFill>
              </a:rPr>
              <a:t>Research Deck</a:t>
            </a:r>
            <a:endParaRPr sz="1100" b="1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19/35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214E43"/>
                </a:solidFill>
              </a:rPr>
              <a:t>固定 Benchmark 结果 X：波动来源拆解（Resolution / Frame Budget / Upsampling）</a:t>
            </a:r>
            <a:endParaRPr sz="2200" b="1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728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194560"/>
                <a:gridCol w="2377440"/>
                <a:gridCol w="2377440"/>
              </a:tblGrid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Native-Best-24G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Fix-240-432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Fix-nFrames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</a:rPr>
                        <a:t>Fix-nFrames + Fix-240-432</a:t>
                      </a:r>
                      <a:endParaRPr sz="115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14E43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020"/>
                          </a:solidFill>
                        </a:rPr>
                        <a:t>VACE</a:t>
                      </a:r>
                      <a:endParaRPr sz="1150" b="1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832x480 / 17f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17f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832x480 / 13f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13f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020"/>
                          </a:solidFill>
                        </a:rPr>
                        <a:t>DiffuEraser</a:t>
                      </a:r>
                      <a:endParaRPr sz="1150" b="1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22f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22f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16f eval
(23f internal)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16f eval
(23f internal)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020"/>
                          </a:solidFill>
                        </a:rPr>
                        <a:t>MiniMax-Remover</a:t>
                      </a:r>
                      <a:endParaRPr sz="1150" b="1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832x480 / 81f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81f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832x480 / 16f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16f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02020"/>
                          </a:solidFill>
                        </a:rPr>
                        <a:t>FloED</a:t>
                      </a:r>
                      <a:endParaRPr sz="1150" b="1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3F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16f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16f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16f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02020"/>
                          </a:solidFill>
                        </a:rPr>
                        <a:t>432x240 / 16f</a:t>
                      </a:r>
                      <a:endParaRPr sz="1150" b="0">
                        <a:solidFill>
                          <a:srgbClr val="202020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860000"/>
            <a:ext cx="10835640" cy="2830000"/>
          </a:xfrm>
          <a:prstGeom prst="rect">
            <a:avLst/>
          </a:prstGeom>
          <a:solidFill>
            <a:srgbClr val="FFF9F0"/>
          </a:solidFill>
          <a:ln w="10160">
            <a:solidFill>
              <a:srgbClr val="E5D7C5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</a:rPr>
              <a:t>核心解读</a:t>
            </a:r>
            <a:endParaRPr sz="1300" b="1">
              <a:solidFill>
                <a:srgbClr val="202020"/>
              </a:solidFill>
            </a:endParaRPr>
          </a:p>
          <a:p>
            <a:pPr algn="l"/>
            <a:r>
              <a:rPr sz="1250" b="0">
                <a:solidFill>
                  <a:srgbClr val="202020"/>
                </a:solidFill>
              </a:rPr>
              <a:t>• VACE：在 Native-Best-24G / BR 中，原始 432x240 输入会先上采样到 832x480 推理，再缩回 432x240 统一评测，因此会占到“大画布推理 + 缩回评测”的优势。</a:t>
            </a:r>
            <a:endParaRPr sz="1250" b="0">
              <a:solidFill>
                <a:srgbClr val="202020"/>
              </a:solidFill>
            </a:endParaRPr>
          </a:p>
          <a:p>
            <a:pPr algn="l"/>
            <a:r>
              <a:rPr sz="1250" b="0">
                <a:solidFill>
                  <a:srgbClr val="202020"/>
                </a:solidFill>
              </a:rPr>
              <a:t>• DiffuEraser：BR 侧一直是 4-step / cfg=3.5 / 432x240；即使 fixed-nFrames 也会内部补到 23 帧，因此最稳定。</a:t>
            </a:r>
            <a:endParaRPr sz="1250" b="0">
              <a:solidFill>
                <a:srgbClr val="202020"/>
              </a:solidFill>
            </a:endParaRPr>
          </a:p>
          <a:p>
            <a:pPr algn="l"/>
            <a:r>
              <a:rPr sz="1250" b="0">
                <a:solidFill>
                  <a:srgbClr val="202020"/>
                </a:solidFill>
              </a:rPr>
              <a:t>• MiniMax-Remover：同时吃高分辨率与长窗口红利，所以一旦固定分辨率或帧预算，指标就会明显回落。</a:t>
            </a:r>
            <a:endParaRPr sz="1250" b="0">
              <a:solidFill>
                <a:srgbClr val="202020"/>
              </a:solidFill>
            </a:endParaRPr>
          </a:p>
          <a:p>
            <a:pPr algn="l"/>
            <a:r>
              <a:rPr sz="1250" b="0">
                <a:solidFill>
                  <a:srgbClr val="202020"/>
                </a:solidFill>
              </a:rPr>
              <a:t>• FloED：在 24G family 下其实早已固定成 432x240 + 16f，后续协议对它几乎没再施加新约束；稳定并不代表它对长视频最有代表性。</a:t>
            </a:r>
            <a:endParaRPr sz="1250" b="0">
              <a:solidFill>
                <a:srgbClr val="202020"/>
              </a:solidFill>
            </a:endParaRPr>
          </a:p>
          <a:p>
            <a:pPr algn="l"/>
            <a:r>
              <a:rPr sz="1250" b="0">
                <a:solidFill>
                  <a:srgbClr val="202020"/>
                </a:solidFill>
              </a:rPr>
              <a:t>• 对 DPO 选 baseline 的启示：主结论应优先参考 Fix-nFrames + Fix-240-432 这张最公平主表，而不是允许上采样 native-style 推理的表。</a:t>
            </a:r>
            <a:endParaRPr sz="1250" b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20/35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固定 Benchmark 后的模型选择结论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BR 冻结参考 baseline：`FloED`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BR DPO 主干 baseline：`DiffuEraser`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OR 冻结参考 baseline：`MiniMax-Remover`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非生成式强上界：`ProPainter`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为什么 DPO 主干仍优先选 DiffuEraser：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训练代码、推理代码、工程路径都已经在当前仓库里打通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与你们现有 `Reg_DPO_Inpainting` 工作流完全对齐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不像 MiniMax 只有推理、不像 FloED 强依赖 anchor-frame demo 结构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作为 baseline 虽然不是每张表第一，但“可继续优化性”最强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21/35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当前 DiffuEraser VideoDPO 框架状态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代码结构：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`DPO_finetune/dataset/dpo_dataset.py`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`DPO_finetune/train_dpo_stage1.py`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`DPO_finetune/train_dpo_stage2.py`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`DPO_finetune/scripts/run_dpo_stage1.py`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`DPO_finetune/scripts/run_dpo_stage2.py`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模块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当前状态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基线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已完成两阶段全量微调，最终权重为 `finetune-stage2/converted_weights_step34000`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代码隔离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已全部放在 `DPO_finetune/` 下，不污染 SFT 主代码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数据集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已构建，HF 数据约 69.9GB，manifest 2066 entries，训练样本总量约 5212 对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Stage 1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`UNet2D + BrushNet` DPO 训练脚本已完成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Stage 2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`MotionModule only` DPO 训练脚本已完成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监控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W&amp;B 初始化、crash alert、console log 回传已落地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22/35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我们自己的 SFT 实验设置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说明：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`FT_S2_34K` 对应当前 PRD 里明确记录的 SFT 最终主权重 `converted_weights_step34000`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`FT_S2_48K` 是额外继续训练得到的对照权重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当前最适合放进正式 PPT 的，是 `/home/hj/Test/exp_result/experiment_report.md` 中的 BR 汇总表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项目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内容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代码路径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`/home/hj/Reg_DPO_Inpainting`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本地结果路径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`/home/hj/Test/exp_result`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训练范式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 两阶段全量微调：Stage 1 训练 `UNet2D + BrushNet`，Stage 2 训练 `MotionModule`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当前核心权重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`Orign`、`FT_S2_34K`、`FT_S2_48K`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当前评测维度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`2-Step / 4-Step`，`BR / OR`，`blend / no-blend`，共 24 组实验配置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当前统一定量结果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BR 已有 `experiment_report.md` 汇总；OR 当前主要保留逐视频结果，尚未导出统一 aggregate 表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23/35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我们自己的 SFT 结果（BR 定量表）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8356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73035"/>
                </a:solidFill>
                <a:latin typeface="Noto Sans CJK SC"/>
              </a:defRPr>
            </a:pPr>
            <a:r>
              <a:t>来源：`/home/hj/Test/exp_result/experiment_report.md`</a:t>
            </a:r>
          </a:p>
          <a:p>
            <a:pPr>
              <a:spcAft>
                <a:spcPts val="500"/>
              </a:spcAft>
              <a:defRPr sz="1700">
                <a:solidFill>
                  <a:srgbClr val="273035"/>
                </a:solidFill>
                <a:latin typeface="Noto Sans CJK SC"/>
              </a:defRPr>
            </a:pPr>
            <a:r>
              <a:t>指标说明：PSNR / SSIM 越高越好，LPIPS / Ewarp 越低越好，AS / IS 越高越好。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94960"/>
            <a:ext cx="9507220" cy="1387475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 BR 最稳的一组是 `FT_S2_34K + 2-Step + no-blend`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34K 相比原始权重在 `2-Step_noblend` 上拿到了最高 PSNR / SSIM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 OR 结果目录已经跑出逐视频结果，但这批实验还没有像 BR 一样形成统一 aggregate 指标表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103120"/>
          <a:ext cx="10972800" cy="3246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4970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Weight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Config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PSNR↑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SSIM↑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LPIPS↓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Ewarp↓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AS↑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IS↑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31.9146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0.9690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8.2150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5.2017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1.2172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31.8548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0.9685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8.2049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5.1721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1.2185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31.8409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0.9687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8.1937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5.2035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1.2221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31.4962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0.9662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8.3854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5.2133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1.2148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31.4688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0.9663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8.4342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5.2219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1.2157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31.1492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0.9642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8.4732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5.1847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1.2187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30.6028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0.0197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8.3519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5.2214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1.2208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30.6009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0.9593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8.2441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5.1824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1.2228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30.5651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0.9594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8.4124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5.2067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1.2197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30.0212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0.9554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8.7116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5.2323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1.2168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29.9857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0.9553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8.7136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5.2282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1.2195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29.6407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0.9532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0.0211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8.8420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5.1993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1.2218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24/35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初期 DPO 数据集生成想法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这个 slide 要强调的点：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这是一个“初期版本”的 DPO 数据集生成方案，后面大概率还会改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当前版本的核心价值是先把 `DiffuEraser + VideoDPO` 的训练闭环跑通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当前数据集的逻辑是“我们自己构造负样本”，而不是直接继承 VideoDPO 的原始数据分布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维度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当前初版设计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说明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数据来源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`YouTube-VOS + DAVIS`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这是我们自己创建的数据集，不是直接使用 VideoDPO 原始数据集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借鉴部分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`VideoDPO` 的 preference learning 主逻辑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借的是“win/lose 偏好优化思路”，不是照搬它的数据构造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正样本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GT 原始视频帧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作为 win sample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负样本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Blur / Hallucination / Flicker 三类退化视频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作为 lose sample，由我们自己的流程自动生成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Mask 设计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大面积、中心区域、缓慢移动的 hard mask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目的是主动制造困难修复场景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评分粒度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 帧 chunk 级评分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与 DPO 训练窗口 `nframes=16` 对齐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产出形式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`neg_frames_1 + neg_frames_2 + meta.json + manifest.json`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一个 GT 视频产出两条负样本时间线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25/35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初期 DPO 数据集的核心流程与后续修改方向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1. 当前流程：GT 视频 -&gt; 生成 hard mask -&gt; 跑三条负样本管线 `blur / hallucination / flicker` -&gt; 16 帧评分 -&gt; 纵向缝合成 `neg_1 / neg_2`。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2. 当前设计的优点：不需要人工偏好标注，能快速得到可训练的 win/lose 对，并且与现有 DiffuEraser 工程完全兼容。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3. 当前设计的局限：负样本还是“人为设计的 failure mode”，和真实 object removal / open-world editing 的分布仍有差距。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4. 后续最可能修改的方向：更真实的 object mask、更自然的负样本来源、更少 heuristic 的评分方式，以及更贴近 OR benchmark 的数据构造。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一句话总结：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当前 DPO 数据集不是 VideoDPO 的原始数据集复刻，而是“借 VideoDPO 的偏好优化思想，在 YouTube-VOS + DAVIS 上为 DiffuEraser 自己做的一版初期数据集”。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26/35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当前 DPO 训练设计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已修复的关键问题：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`manifest key != 目录名` 导致 0 entries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1 `timesteps` 维度不匹配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2 `BrushNet` 与 `UNetMotionModel` 需要不同 `timesteps`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2 `encoder_hidden_states` 未翻倍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`UNetMotionModel` config / import 问题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W&amp;B 初始化过晚导致黑箱崩溃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项目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Stage 1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Stage 2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可训练模块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UNet2D + BrushNet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MotionModule only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Policy / Ref 都从 SFT 权重初始化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Policy 从 Stage 1 + baseline motion；Ref 保持 SFT 冻结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nframes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LR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1e-6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1e-6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beta_dpo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max_steps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20000~21000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30000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验证指标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PSNR + SSIM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PSNR + SSIM + Ewarp + TC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27/35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训练失败复盘 I：OOM 与显存应对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70432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20485">
                <a:tc>
                  <a:txBody>
                    <a:bodyPr/>
                    <a:lstStyle/>
                    <a:p>
                      <a:r>
                        <a:rPr sz="1420" b="1">
                          <a:solidFill>
                            <a:srgbClr val="FFFFFF"/>
                          </a:solidFill>
                        </a:rPr>
                        <a:t>维度</a:t>
                      </a:r>
                      <a:endParaRPr sz="14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1">
                          <a:solidFill>
                            <a:srgbClr val="FFFFFF"/>
                          </a:solidFill>
                        </a:rPr>
                        <a:t>结论</a:t>
                      </a:r>
                      <a:endParaRPr sz="14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失败现象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首次 Stage 1 集群实跑在早期阶段触发 OOM，说明 DPO 显存峰值显著高于 SFT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根因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同时持有 policy/ref 的 UNet + BrushNet，并对 winner/loser 做成对前向，显存压力约为 SFT 的多倍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已加的无损显存 trick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释放已消费完的 BrushNet 中间特征，Ref branch 全程 no_grad()，VAE encode 后尽早释放 pixel，并阶段性清理 cache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为什么说不改训练目标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这些 trick 只释放不再参与后续计算的 tensor，不改 loss、标签和梯度方向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本次 rerun fallback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提交命令里把 nframes 从 16 临时改到 8，先保证集群稳定跑通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需要诚实记录的 tradeoff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nframes=8 会缩短单次时序窗口，所以它是工程兜底，不是与 16 帧完全等价的正式设定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650992"/>
            <a:ext cx="10835640" cy="621792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0">
                <a:solidFill>
                  <a:srgbClr val="214E43"/>
                </a:solidFill>
              </a:rPr>
              <a:t>一句话总结：代码级显存优化本身是无损的；nframes=8 是为了解决 OOM 的运行级 fallback，后续仍建议在资源允许时回到 16 帧做正式对比。</a:t>
            </a:r>
            <a:endParaRPr sz="155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28/35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训练失败复盘 II：β=2500 早饱和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074920" cy="4526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当前任务里 winner = GT，因此理想情况应当是 win_gap &lt; 0。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但首次 Stage 1 实跑中，step 300 就已出现 implicit_acc = 1.0、sigma_term = 1.0、dpo_loss ≈ 0。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同时 win_gap 长期为正，说明 policy 在 GT 上并没有优于 ref。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更合理的解释是：vanilla DPO 很快满足了相对排序，但主要靠让 loser 更差，而不是把 winner 真正优化得更好。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这和 Reg-DPO 论文指出的早饱和现象一致，也解释了为什么后面必须补充 inside_term 与 loser-dominant 诊断。</a:t>
            </a:r>
            <a:endParaRPr sz="1640" b="0">
              <a:solidFill>
                <a:srgbClr val="214E43"/>
              </a:solidFill>
            </a:endParaRPr>
          </a:p>
        </p:txBody>
      </p:sp>
      <p:pic>
        <p:nvPicPr>
          <p:cNvPr id="7" name="Picture 6" descr="01_early_implicit_a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53312"/>
            <a:ext cx="5074920" cy="22957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50992"/>
            <a:ext cx="10835640" cy="56692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解读重点：implicit_acc = 1 不能单独解释为训练成功，必须与 win_gap / sigma_term / dpo_loss / grad norm 一起读。</a:t>
            </a:r>
            <a:endParaRPr sz="15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29/35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首次失败 Run 的训练曲线（1/2）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9784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214E43"/>
                </a:solidFill>
              </a:rPr>
              <a:t>重建来源：/log/DPO_Finetune_S1.log 的每 300 step 控制台诊断；图中趋势用于复盘训练动力学。</a:t>
            </a:r>
            <a:endParaRPr sz="1120" b="0">
              <a:solidFill>
                <a:srgbClr val="214E43"/>
              </a:solidFill>
            </a:endParaRPr>
          </a:p>
        </p:txBody>
      </p:sp>
      <p:pic>
        <p:nvPicPr>
          <p:cNvPr id="7" name="Picture 6" descr="02_panel_relati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225296"/>
            <a:ext cx="9372600" cy="2676601"/>
          </a:xfrm>
          <a:prstGeom prst="rect">
            <a:avLst/>
          </a:prstGeom>
        </p:spPr>
      </p:pic>
      <p:pic>
        <p:nvPicPr>
          <p:cNvPr id="8" name="Picture 7" descr="03_panel_mse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3913632"/>
            <a:ext cx="9372600" cy="267660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30/35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首次失败 Run 的训练曲线（2/2）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9784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214E43"/>
                </a:solidFill>
              </a:rPr>
              <a:t>上图用于判断“是否只是排序赢了”；下图用于判断“loss 是否过早归零，梯度是否已经基本消失”。</a:t>
            </a:r>
            <a:endParaRPr sz="1120" b="0">
              <a:solidFill>
                <a:srgbClr val="214E43"/>
              </a:solidFill>
            </a:endParaRPr>
          </a:p>
        </p:txBody>
      </p:sp>
      <p:pic>
        <p:nvPicPr>
          <p:cNvPr id="7" name="Picture 6" descr="04_panel_gaps_kl_a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225296"/>
            <a:ext cx="9372600" cy="2676601"/>
          </a:xfrm>
          <a:prstGeom prst="rect">
            <a:avLst/>
          </a:prstGeom>
        </p:spPr>
      </p:pic>
      <p:pic>
        <p:nvPicPr>
          <p:cNvPr id="8" name="Picture 7" descr="05_panel_loss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169663"/>
            <a:ext cx="5806440" cy="24354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251960"/>
            <a:ext cx="3977639" cy="18288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这一页的关键信息：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implicit_acc 很早到 1，但不能说明 GT 侧真的提升。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kl_divergence 继续上升，说明 policy 仍在偏离 ref。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dpo_loss 快速归零、dgr_grad_norm 贴近 0，说明 DPO loss 很早失去有效更新。</a:t>
            </a:r>
            <a:endParaRPr sz="15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31/35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为什么训练时必须建立这些图表（核心 DPO 指标）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611880"/>
                <a:gridCol w="5989320"/>
              </a:tblGrid>
              <a:tr h="588645"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它是什么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为什么必须监控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inside_term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-0.5β[(Lw-Ll)_policy-(Lw-Ll)_ref]，sigmoid 输入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直接决定当前样本是否真的比 ref 更满足偏好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dpo_loss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-log σ(inside_term)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如果过快接近 0，通常意味着训练过早饱和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implicit_acc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P(inside_term &gt; 0)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衡量 policy 相对 ref 满足偏好的比例；多卡下必须做全局 gather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sigma_term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σ(inside_term)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判断是否进入 sigmoid 饱和区；长期接近 1 说明梯度会迅速变小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win_gap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mse_w - ref_mse_w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本项目 winner=GT，理想值应 &lt; 0；否则说明 GT 侧可能退化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lose_gap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mse_l - ref_mse_l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可以为正，但不能只靠它单独变大来“赢”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reward_margin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ref_mse_w - ref_mse_l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查看 ref 自身对 winner / loser 的可分性，判断偏好任务是否清晰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797296"/>
            <a:ext cx="1083564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核心读图原则：任何单个指标都不能独立宣告“训练成功”，必须把排序指标、质量指标和梯度指标结合起来判断。</a:t>
            </a:r>
            <a:endParaRPr sz="14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32/35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为什么训练时必须建立这些图表（质量与稳定性）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611880"/>
                <a:gridCol w="5623560"/>
              </a:tblGrid>
              <a:tr h="565785"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它是什么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为什么必须监控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mse_w / mse_l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policy 对 winner / loser 的绝对误差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区分“排序赢了”还是“GT 真的更好了”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kl_divergence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0.5 * (mean model loss - mean ref loss)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监控 policy 偏离 ref 的程度，太大可能意味着漂移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dgr_grad_norm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DPO loss 对可训练参数的梯度范数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如果接近 0，说明 DPO loss 已基本不给有效更新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grad_norm_ratio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DGR / 总 grad norm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判断当前更新里有多少比例仍来自 DPO 信号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lr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学习率计划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排除 scheduler 本身异常；本次 run 的早饱和并不是 lr 导致的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inside_term_mean/min/max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新增：inside_term 的全局分布统计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看 sigmoid 输入是否整体偏正、是否全部过早饱和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loser_dominant_ratio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新增：正确样本中 loser 退化贡献更大的比例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识别“主要靠 loser 变差获胜”的假性成功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532120"/>
            <a:ext cx="10835640" cy="65836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本轮代码修正已经完成：beta_dpo 改为 CLI 默认 500，implicit_acc 改为跨卡全局指标，并新增 inside_term_* 与 loser_dominant_ratio。</a:t>
            </a:r>
            <a:endParaRPr sz="14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当前集群仍在修复中，因此“修正后监控面板”的新曲线需要等下一次 rerun 才能补进报告。</a:t>
            </a:r>
            <a:endParaRPr sz="14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33/35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正式实验前必须 Pre 的内容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不需要特别展开的简单工程项：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sbatch 封装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cache 重定向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常规日志输出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605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必须 Pre 的内容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为什么是硬前提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1. 先固定主任务：BR 还是 OR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两条任务的 GT、mask、指标、benchmark 完全不同，不固定就无法解释结果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2. 先固定主表协议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推荐直接用 `Fix-nFrames + Fix-240-432-24G` 作为主表，否则分辨率和窗口差异会污染结论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3. 负样本必须与训练窗口对齐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14E43"/>
                          </a:solidFill>
                        </a:rPr>
                        <a:t>正式主设定仍应与 16 帧评分窗口对齐；若因 OOM 临时改成 nframes=8，必须单独标记为 fallback run，不能与正式主表混合解释</a:t>
                      </a:r>
                      <a:endParaRPr sz="1400">
                        <a:solidFill>
                          <a:srgbClr val="214E43"/>
                        </a:solidFill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4. Stage 2 采样必须避开 chimera 缝合线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否则 MotionModule 学到的是伪时序断裂，不是真实修复偏好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5. BrushNet 条件必须对 pos / neg 共用 GT masked image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否则会出现 conditioning 信息泄漏，DPO 失真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6. Policy / Reference 必须共用同一份 SFT 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的“偏好增量”必须建立在同一基线之上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7. MotionModule 初始化必须来自 DiffuEraser baseline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不应从原始 AnimateDiff 重新起跑，否则时序学习难度过高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8. Stage 2 必须加入 Ewarp / TC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只看 PSNR / SSIM 会误选高分但闪烁严重的权重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9. DAVIS 过采样与数据平衡要先定死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DAVIS 数量远少于 YTVOS，不处理会让验证集风格被稀释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34/35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建议的实验路线图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1. 先锁定主 benchmark：`Fix-nFrames + Fix-240-432-24G / BR` 与 `/ OR`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2. 以当前 SFT DiffuEraser 作为 0 号 baseline，先跑统一主表，固定所有后续比较基线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3. 做 Stage 1 DPO smoke test：2 step -&gt; 100 step -&gt; 小规模 1k step，检查 `dpo_loss / implicit_acc / sigma_term / grad_norm_ratio`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4. Stage 1 全量训练，目标是先把 BR 主表上 `DiffuEraser -&gt; DPO-DiffuEraser` 做出稳定提升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5. 进入 Stage 2，只训练 MotionModule，重点盯 `Ewarp / TC` 是否改善而不是只看 PSNR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6. 最终在统一主表上比较：`DiffuEraser`、`DPO-DiffuEraser`、`FloED`、`MiniMax-Remover`、`ProPainter`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建议的答辩口径：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我们不是重新发明一个新 backbone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我们是在“最现实可训的 DiffuEraser 主干”上，用 VideoDPO 方式提升修复偏好与时序一致性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benchmark 固定后，结论会比直接抄论文原表更可信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0">
                <a:solidFill>
                  <a:srgbClr val="214E43"/>
                </a:solidFill>
              </a:rPr>
              <a:t>35/35</a:t>
            </a:r>
            <a:endParaRPr sz="1050" b="0">
              <a:solidFill>
                <a:srgbClr val="214E4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结束页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论文综述主线：方法谱系、数据集、setting、benchmark 已经完整闭环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结果主线：固定 benchmark 的 8 张表已经给出，可直接作为主报告定量部分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我们自己的工作主线：SFT 本地结果已经补进 PPT，初期 DPO 数据集生成思路也已单独说明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实验主线：当前最合理的 DPO 路线是 `FloED 做参考、DiffuEraser 做主干、MiniMax 做 OR 冻结对照`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可直接继续展开的内容：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把这份文案精简成答辩版 12 页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进一步补一版“讲稿口播稿”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继续生成正式 `.pptx`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17913</Words>
  <Application>WPS 演示</Application>
  <PresentationFormat>On-screen Show (4:3)</PresentationFormat>
  <Paragraphs>2329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宋体</vt:lpstr>
      <vt:lpstr>Wingdings</vt:lpstr>
      <vt:lpstr>Arial</vt:lpstr>
      <vt:lpstr>Noto Sans CJK SC</vt:lpstr>
      <vt:lpstr>Segoe Print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黄驾</cp:lastModifiedBy>
  <cp:revision>5</cp:revision>
  <dcterms:created xsi:type="dcterms:W3CDTF">2013-01-27T09:14:00Z</dcterms:created>
  <dcterms:modified xsi:type="dcterms:W3CDTF">2026-04-03T20:10:12Z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C79570920F9D4A33BAB3E1B34C16E7C0</vt:lpwstr>
  </property>
  <property fmtid="{D5CDD505-2E9C-101B-9397-08002B2CF9AE}" pid="3" name="KSOProductBuildVer">
    <vt:lpwstr>2052-11.8.2.12195</vt:lpwstr>
  </property>
</Properties>
</file>